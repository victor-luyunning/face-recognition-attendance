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64" r:id="rId3"/>
    <p:sldId id="256" r:id="rId4"/>
    <p:sldId id="265" r:id="rId5"/>
    <p:sldId id="266" r:id="rId7"/>
    <p:sldId id="267" r:id="rId8"/>
    <p:sldId id="268" r:id="rId9"/>
    <p:sldId id="269" r:id="rId10"/>
    <p:sldId id="273" r:id="rId11"/>
    <p:sldId id="270" r:id="rId12"/>
    <p:sldId id="271" r:id="rId13"/>
    <p:sldId id="272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7" autoAdjust="0"/>
    <p:restoredTop sz="94660"/>
  </p:normalViewPr>
  <p:slideViewPr>
    <p:cSldViewPr snapToGrid="0">
      <p:cViewPr>
        <p:scale>
          <a:sx n="66" d="100"/>
          <a:sy n="66" d="100"/>
        </p:scale>
        <p:origin x="24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B321BD-613F-4192-97EB-C60FBDE48C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57DEAB-66D8-4D19-A9D7-18ABEF4096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3641-7478-43BF-A718-D81452921D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A161-E1F7-47D2-90D7-28213E8AF3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3641-7478-43BF-A718-D81452921D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A161-E1F7-47D2-90D7-28213E8AF3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3641-7478-43BF-A718-D81452921D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A161-E1F7-47D2-90D7-28213E8AF3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3641-7478-43BF-A718-D81452921D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A161-E1F7-47D2-90D7-28213E8AF3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3641-7478-43BF-A718-D81452921D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A161-E1F7-47D2-90D7-28213E8AF3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3641-7478-43BF-A718-D81452921D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A161-E1F7-47D2-90D7-28213E8AF3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3641-7478-43BF-A718-D81452921D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A161-E1F7-47D2-90D7-28213E8AF3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3641-7478-43BF-A718-D81452921D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A161-E1F7-47D2-90D7-28213E8AF3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3641-7478-43BF-A718-D81452921D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A161-E1F7-47D2-90D7-28213E8AF3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3641-7478-43BF-A718-D81452921D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A161-E1F7-47D2-90D7-28213E8AF3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B3641-7478-43BF-A718-D81452921D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5A161-E1F7-47D2-90D7-28213E8AF30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EB3641-7478-43BF-A718-D81452921D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5A161-E1F7-47D2-90D7-28213E8AF30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4.png"/><Relationship Id="rId7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tags" Target="../tags/tag3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20.png"/><Relationship Id="rId15" Type="http://schemas.openxmlformats.org/officeDocument/2006/relationships/image" Target="../media/image19.png"/><Relationship Id="rId14" Type="http://schemas.openxmlformats.org/officeDocument/2006/relationships/image" Target="../media/image18.png"/><Relationship Id="rId13" Type="http://schemas.openxmlformats.org/officeDocument/2006/relationships/image" Target="../media/image17.png"/><Relationship Id="rId12" Type="http://schemas.openxmlformats.org/officeDocument/2006/relationships/image" Target="../media/image16.png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0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29" Type="http://schemas.openxmlformats.org/officeDocument/2006/relationships/slideLayout" Target="../slideLayouts/slideLayout12.xml"/><Relationship Id="rId28" Type="http://schemas.openxmlformats.org/officeDocument/2006/relationships/image" Target="../media/image46.png"/><Relationship Id="rId27" Type="http://schemas.openxmlformats.org/officeDocument/2006/relationships/image" Target="../media/image45.png"/><Relationship Id="rId26" Type="http://schemas.openxmlformats.org/officeDocument/2006/relationships/image" Target="../media/image44.png"/><Relationship Id="rId25" Type="http://schemas.openxmlformats.org/officeDocument/2006/relationships/image" Target="../media/image43.png"/><Relationship Id="rId24" Type="http://schemas.openxmlformats.org/officeDocument/2006/relationships/image" Target="../media/image42.png"/><Relationship Id="rId23" Type="http://schemas.openxmlformats.org/officeDocument/2006/relationships/image" Target="../media/image41.png"/><Relationship Id="rId22" Type="http://schemas.openxmlformats.org/officeDocument/2006/relationships/image" Target="../media/image40.png"/><Relationship Id="rId21" Type="http://schemas.openxmlformats.org/officeDocument/2006/relationships/image" Target="../media/image39.png"/><Relationship Id="rId20" Type="http://schemas.openxmlformats.org/officeDocument/2006/relationships/image" Target="../media/image38.png"/><Relationship Id="rId2" Type="http://schemas.openxmlformats.org/officeDocument/2006/relationships/image" Target="../media/image6.png"/><Relationship Id="rId19" Type="http://schemas.openxmlformats.org/officeDocument/2006/relationships/image" Target="../media/image37.png"/><Relationship Id="rId18" Type="http://schemas.openxmlformats.org/officeDocument/2006/relationships/image" Target="../media/image36.png"/><Relationship Id="rId17" Type="http://schemas.openxmlformats.org/officeDocument/2006/relationships/image" Target="../media/image35.png"/><Relationship Id="rId16" Type="http://schemas.openxmlformats.org/officeDocument/2006/relationships/image" Target="../media/image34.png"/><Relationship Id="rId15" Type="http://schemas.openxmlformats.org/officeDocument/2006/relationships/image" Target="../media/image33.png"/><Relationship Id="rId14" Type="http://schemas.openxmlformats.org/officeDocument/2006/relationships/image" Target="../media/image32.png"/><Relationship Id="rId13" Type="http://schemas.openxmlformats.org/officeDocument/2006/relationships/image" Target="../media/image31.png"/><Relationship Id="rId12" Type="http://schemas.openxmlformats.org/officeDocument/2006/relationships/image" Target="../media/image30.png"/><Relationship Id="rId11" Type="http://schemas.openxmlformats.org/officeDocument/2006/relationships/image" Target="../media/image29.png"/><Relationship Id="rId10" Type="http://schemas.openxmlformats.org/officeDocument/2006/relationships/image" Target="../media/image28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png"/><Relationship Id="rId8" Type="http://schemas.openxmlformats.org/officeDocument/2006/relationships/image" Target="../media/image52.png"/><Relationship Id="rId7" Type="http://schemas.openxmlformats.org/officeDocument/2006/relationships/image" Target="../media/image51.png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0" Type="http://schemas.openxmlformats.org/officeDocument/2006/relationships/notesSlide" Target="../notesSlides/notesSlide2.xml"/><Relationship Id="rId2" Type="http://schemas.openxmlformats.org/officeDocument/2006/relationships/image" Target="../media/image6.pn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62.png"/><Relationship Id="rId17" Type="http://schemas.openxmlformats.org/officeDocument/2006/relationships/image" Target="../media/image61.png"/><Relationship Id="rId16" Type="http://schemas.openxmlformats.org/officeDocument/2006/relationships/image" Target="../media/image60.png"/><Relationship Id="rId15" Type="http://schemas.openxmlformats.org/officeDocument/2006/relationships/image" Target="../media/image59.png"/><Relationship Id="rId14" Type="http://schemas.openxmlformats.org/officeDocument/2006/relationships/image" Target="../media/image58.png"/><Relationship Id="rId13" Type="http://schemas.openxmlformats.org/officeDocument/2006/relationships/image" Target="../media/image57.png"/><Relationship Id="rId12" Type="http://schemas.openxmlformats.org/officeDocument/2006/relationships/image" Target="../media/image56.png"/><Relationship Id="rId11" Type="http://schemas.openxmlformats.org/officeDocument/2006/relationships/image" Target="../media/image55.png"/><Relationship Id="rId10" Type="http://schemas.openxmlformats.org/officeDocument/2006/relationships/image" Target="../media/image54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9.png"/><Relationship Id="rId8" Type="http://schemas.openxmlformats.org/officeDocument/2006/relationships/image" Target="../media/image68.png"/><Relationship Id="rId7" Type="http://schemas.openxmlformats.org/officeDocument/2006/relationships/image" Target="../media/image67.png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3" Type="http://schemas.openxmlformats.org/officeDocument/2006/relationships/notesSlide" Target="../notesSlides/notesSlide3.xml"/><Relationship Id="rId22" Type="http://schemas.openxmlformats.org/officeDocument/2006/relationships/slideLayout" Target="../slideLayouts/slideLayout12.xml"/><Relationship Id="rId21" Type="http://schemas.openxmlformats.org/officeDocument/2006/relationships/image" Target="../media/image81.png"/><Relationship Id="rId20" Type="http://schemas.openxmlformats.org/officeDocument/2006/relationships/image" Target="../media/image80.png"/><Relationship Id="rId2" Type="http://schemas.openxmlformats.org/officeDocument/2006/relationships/image" Target="../media/image6.png"/><Relationship Id="rId19" Type="http://schemas.openxmlformats.org/officeDocument/2006/relationships/image" Target="../media/image79.png"/><Relationship Id="rId18" Type="http://schemas.openxmlformats.org/officeDocument/2006/relationships/image" Target="../media/image78.png"/><Relationship Id="rId17" Type="http://schemas.openxmlformats.org/officeDocument/2006/relationships/image" Target="../media/image77.png"/><Relationship Id="rId16" Type="http://schemas.openxmlformats.org/officeDocument/2006/relationships/image" Target="../media/image76.png"/><Relationship Id="rId15" Type="http://schemas.openxmlformats.org/officeDocument/2006/relationships/image" Target="../media/image75.png"/><Relationship Id="rId14" Type="http://schemas.openxmlformats.org/officeDocument/2006/relationships/image" Target="../media/image74.png"/><Relationship Id="rId13" Type="http://schemas.openxmlformats.org/officeDocument/2006/relationships/image" Target="../media/image73.png"/><Relationship Id="rId12" Type="http://schemas.openxmlformats.org/officeDocument/2006/relationships/image" Target="../media/image72.png"/><Relationship Id="rId11" Type="http://schemas.openxmlformats.org/officeDocument/2006/relationships/image" Target="../media/image71.png"/><Relationship Id="rId10" Type="http://schemas.openxmlformats.org/officeDocument/2006/relationships/image" Target="../media/image70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8.png"/><Relationship Id="rId8" Type="http://schemas.openxmlformats.org/officeDocument/2006/relationships/image" Target="../media/image87.png"/><Relationship Id="rId7" Type="http://schemas.openxmlformats.org/officeDocument/2006/relationships/image" Target="../media/image86.png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36" Type="http://schemas.openxmlformats.org/officeDocument/2006/relationships/notesSlide" Target="../notesSlides/notesSlide4.xml"/><Relationship Id="rId35" Type="http://schemas.openxmlformats.org/officeDocument/2006/relationships/slideLayout" Target="../slideLayouts/slideLayout12.xml"/><Relationship Id="rId34" Type="http://schemas.openxmlformats.org/officeDocument/2006/relationships/image" Target="../media/image112.png"/><Relationship Id="rId33" Type="http://schemas.openxmlformats.org/officeDocument/2006/relationships/image" Target="../media/image111.png"/><Relationship Id="rId32" Type="http://schemas.openxmlformats.org/officeDocument/2006/relationships/image" Target="../media/image110.png"/><Relationship Id="rId31" Type="http://schemas.openxmlformats.org/officeDocument/2006/relationships/image" Target="../media/image109.png"/><Relationship Id="rId30" Type="http://schemas.openxmlformats.org/officeDocument/2006/relationships/image" Target="../media/image108.png"/><Relationship Id="rId3" Type="http://schemas.openxmlformats.org/officeDocument/2006/relationships/image" Target="../media/image82.png"/><Relationship Id="rId29" Type="http://schemas.openxmlformats.org/officeDocument/2006/relationships/image" Target="../media/image107.png"/><Relationship Id="rId28" Type="http://schemas.openxmlformats.org/officeDocument/2006/relationships/image" Target="../media/image106.png"/><Relationship Id="rId27" Type="http://schemas.openxmlformats.org/officeDocument/2006/relationships/image" Target="../media/image105.png"/><Relationship Id="rId26" Type="http://schemas.openxmlformats.org/officeDocument/2006/relationships/image" Target="../media/image104.png"/><Relationship Id="rId25" Type="http://schemas.openxmlformats.org/officeDocument/2006/relationships/image" Target="../media/image103.png"/><Relationship Id="rId24" Type="http://schemas.openxmlformats.org/officeDocument/2006/relationships/image" Target="../media/image102.png"/><Relationship Id="rId23" Type="http://schemas.openxmlformats.org/officeDocument/2006/relationships/image" Target="../media/image101.png"/><Relationship Id="rId22" Type="http://schemas.openxmlformats.org/officeDocument/2006/relationships/image" Target="../media/image100.png"/><Relationship Id="rId21" Type="http://schemas.openxmlformats.org/officeDocument/2006/relationships/image" Target="../media/image48.png"/><Relationship Id="rId20" Type="http://schemas.openxmlformats.org/officeDocument/2006/relationships/image" Target="../media/image99.png"/><Relationship Id="rId2" Type="http://schemas.openxmlformats.org/officeDocument/2006/relationships/image" Target="../media/image6.png"/><Relationship Id="rId19" Type="http://schemas.openxmlformats.org/officeDocument/2006/relationships/image" Target="../media/image98.png"/><Relationship Id="rId18" Type="http://schemas.openxmlformats.org/officeDocument/2006/relationships/image" Target="../media/image97.png"/><Relationship Id="rId17" Type="http://schemas.openxmlformats.org/officeDocument/2006/relationships/image" Target="../media/image96.png"/><Relationship Id="rId16" Type="http://schemas.openxmlformats.org/officeDocument/2006/relationships/image" Target="../media/image95.png"/><Relationship Id="rId15" Type="http://schemas.openxmlformats.org/officeDocument/2006/relationships/image" Target="../media/image94.png"/><Relationship Id="rId14" Type="http://schemas.openxmlformats.org/officeDocument/2006/relationships/image" Target="../media/image93.png"/><Relationship Id="rId13" Type="http://schemas.openxmlformats.org/officeDocument/2006/relationships/image" Target="../media/image92.png"/><Relationship Id="rId12" Type="http://schemas.openxmlformats.org/officeDocument/2006/relationships/image" Target="../media/image91.png"/><Relationship Id="rId11" Type="http://schemas.openxmlformats.org/officeDocument/2006/relationships/image" Target="../media/image90.png"/><Relationship Id="rId10" Type="http://schemas.openxmlformats.org/officeDocument/2006/relationships/image" Target="../media/image89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image" Target="../media/image114.png"/><Relationship Id="rId7" Type="http://schemas.openxmlformats.org/officeDocument/2006/relationships/tags" Target="../tags/tag8.xml"/><Relationship Id="rId6" Type="http://schemas.openxmlformats.org/officeDocument/2006/relationships/image" Target="../media/image83.png"/><Relationship Id="rId5" Type="http://schemas.openxmlformats.org/officeDocument/2006/relationships/tags" Target="../tags/tag7.xml"/><Relationship Id="rId4" Type="http://schemas.openxmlformats.org/officeDocument/2006/relationships/image" Target="../media/image113.png"/><Relationship Id="rId3" Type="http://schemas.openxmlformats.org/officeDocument/2006/relationships/tags" Target="../tags/tag6.xml"/><Relationship Id="rId2" Type="http://schemas.openxmlformats.org/officeDocument/2006/relationships/image" Target="../media/image6.png"/><Relationship Id="rId19" Type="http://schemas.openxmlformats.org/officeDocument/2006/relationships/notesSlide" Target="../notesSlides/notesSlide5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118.png"/><Relationship Id="rId16" Type="http://schemas.openxmlformats.org/officeDocument/2006/relationships/image" Target="../media/image117.png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image" Target="../media/image116.png"/><Relationship Id="rId12" Type="http://schemas.openxmlformats.org/officeDocument/2006/relationships/tags" Target="../tags/tag11.xml"/><Relationship Id="rId11" Type="http://schemas.openxmlformats.org/officeDocument/2006/relationships/image" Target="../media/image115.png"/><Relationship Id="rId10" Type="http://schemas.openxmlformats.org/officeDocument/2006/relationships/tags" Target="../tags/tag10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image" Target="../media/image114.png"/><Relationship Id="rId7" Type="http://schemas.openxmlformats.org/officeDocument/2006/relationships/tags" Target="../tags/tag16.xml"/><Relationship Id="rId6" Type="http://schemas.openxmlformats.org/officeDocument/2006/relationships/image" Target="../media/image83.png"/><Relationship Id="rId5" Type="http://schemas.openxmlformats.org/officeDocument/2006/relationships/tags" Target="../tags/tag15.xml"/><Relationship Id="rId4" Type="http://schemas.openxmlformats.org/officeDocument/2006/relationships/image" Target="../media/image113.png"/><Relationship Id="rId3" Type="http://schemas.openxmlformats.org/officeDocument/2006/relationships/tags" Target="../tags/tag14.xml"/><Relationship Id="rId21" Type="http://schemas.openxmlformats.org/officeDocument/2006/relationships/notesSlide" Target="../notesSlides/notesSlide6.xml"/><Relationship Id="rId20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19" Type="http://schemas.openxmlformats.org/officeDocument/2006/relationships/image" Target="../media/image120.png"/><Relationship Id="rId18" Type="http://schemas.openxmlformats.org/officeDocument/2006/relationships/tags" Target="../tags/tag23.xml"/><Relationship Id="rId17" Type="http://schemas.openxmlformats.org/officeDocument/2006/relationships/tags" Target="../tags/tag22.xml"/><Relationship Id="rId16" Type="http://schemas.openxmlformats.org/officeDocument/2006/relationships/image" Target="../media/image119.png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image" Target="../media/image116.png"/><Relationship Id="rId12" Type="http://schemas.openxmlformats.org/officeDocument/2006/relationships/tags" Target="../tags/tag19.xml"/><Relationship Id="rId11" Type="http://schemas.openxmlformats.org/officeDocument/2006/relationships/image" Target="../media/image115.png"/><Relationship Id="rId10" Type="http://schemas.openxmlformats.org/officeDocument/2006/relationships/tags" Target="../tags/tag18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7.png"/><Relationship Id="rId8" Type="http://schemas.openxmlformats.org/officeDocument/2006/relationships/image" Target="../media/image126.png"/><Relationship Id="rId7" Type="http://schemas.openxmlformats.org/officeDocument/2006/relationships/image" Target="../media/image125.png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Relationship Id="rId3" Type="http://schemas.openxmlformats.org/officeDocument/2006/relationships/image" Target="../media/image121.png"/><Relationship Id="rId2" Type="http://schemas.openxmlformats.org/officeDocument/2006/relationships/image" Target="../media/image6.png"/><Relationship Id="rId19" Type="http://schemas.openxmlformats.org/officeDocument/2006/relationships/notesSlide" Target="../notesSlides/notesSlide7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135.png"/><Relationship Id="rId16" Type="http://schemas.openxmlformats.org/officeDocument/2006/relationships/image" Target="../media/image134.png"/><Relationship Id="rId15" Type="http://schemas.openxmlformats.org/officeDocument/2006/relationships/image" Target="../media/image133.png"/><Relationship Id="rId14" Type="http://schemas.openxmlformats.org/officeDocument/2006/relationships/image" Target="../media/image132.png"/><Relationship Id="rId13" Type="http://schemas.openxmlformats.org/officeDocument/2006/relationships/image" Target="../media/image131.png"/><Relationship Id="rId12" Type="http://schemas.openxmlformats.org/officeDocument/2006/relationships/image" Target="../media/image130.png"/><Relationship Id="rId11" Type="http://schemas.openxmlformats.org/officeDocument/2006/relationships/image" Target="../media/image129.png"/><Relationship Id="rId10" Type="http://schemas.openxmlformats.org/officeDocument/2006/relationships/image" Target="../media/image128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2.png"/><Relationship Id="rId8" Type="http://schemas.openxmlformats.org/officeDocument/2006/relationships/image" Target="../media/image141.png"/><Relationship Id="rId7" Type="http://schemas.openxmlformats.org/officeDocument/2006/relationships/image" Target="../media/image140.png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Relationship Id="rId3" Type="http://schemas.openxmlformats.org/officeDocument/2006/relationships/image" Target="../media/image136.png"/><Relationship Id="rId2" Type="http://schemas.openxmlformats.org/officeDocument/2006/relationships/image" Target="../media/image6.png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146.png"/><Relationship Id="rId12" Type="http://schemas.openxmlformats.org/officeDocument/2006/relationships/image" Target="../media/image145.png"/><Relationship Id="rId11" Type="http://schemas.openxmlformats.org/officeDocument/2006/relationships/image" Target="../media/image144.png"/><Relationship Id="rId10" Type="http://schemas.openxmlformats.org/officeDocument/2006/relationships/image" Target="../media/image143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image" Target="../media/image4.png"/><Relationship Id="rId7" Type="http://schemas.openxmlformats.org/officeDocument/2006/relationships/tags" Target="../tags/tag27.xml"/><Relationship Id="rId6" Type="http://schemas.openxmlformats.org/officeDocument/2006/relationships/image" Target="../media/image3.png"/><Relationship Id="rId5" Type="http://schemas.openxmlformats.org/officeDocument/2006/relationships/tags" Target="../tags/tag26.xml"/><Relationship Id="rId4" Type="http://schemas.openxmlformats.org/officeDocument/2006/relationships/image" Target="../media/image2.png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09855"/>
            <a:ext cx="12192000" cy="6443980"/>
          </a:xfrm>
          <a:prstGeom prst="rect">
            <a:avLst/>
          </a:prstGeom>
          <a:solidFill>
            <a:srgbClr val="182F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5377" y="968700"/>
            <a:ext cx="4226084" cy="422608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6129338"/>
            <a:ext cx="12192000" cy="7286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2"/>
          <p:cNvSpPr txBox="1"/>
          <p:nvPr>
            <p:custDataLst>
              <p:tags r:id="rId2"/>
            </p:custDataLst>
          </p:nvPr>
        </p:nvSpPr>
        <p:spPr>
          <a:xfrm>
            <a:off x="4776470" y="325120"/>
            <a:ext cx="2153285" cy="398780"/>
          </a:xfrm>
          <a:prstGeom prst="rect">
            <a:avLst/>
          </a:prstGeom>
        </p:spPr>
        <p:txBody>
          <a:bodyPr wrap="square" anchor="ctr" anchorCtr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 w="12700">
                  <a:noFill/>
                </a:ln>
                <a:solidFill>
                  <a:srgbClr val="182F7B"/>
                </a:solidFill>
                <a:effectLst/>
                <a:uLnTx/>
                <a:uFillTx/>
                <a:latin typeface="汉仪新人文宋 75W" panose="00020600040101010101" pitchFamily="18" charset="-122"/>
                <a:ea typeface="汉仪新人文宋 75W" panose="00020600040101010101" pitchFamily="18" charset="-122"/>
                <a:cs typeface="+mn-ea"/>
                <a:sym typeface="+mn-lt"/>
              </a:rPr>
              <a:t>校长奖学金答辩</a:t>
            </a:r>
            <a:endParaRPr kumimoji="0" lang="zh-CN" altLang="en-US" sz="2000" b="0" i="0" u="none" strike="noStrike" kern="1200" cap="none" spc="0" normalizeH="0" baseline="0" noProof="0" dirty="0">
              <a:ln w="12700">
                <a:noFill/>
              </a:ln>
              <a:solidFill>
                <a:srgbClr val="182F7B"/>
              </a:solidFill>
              <a:effectLst/>
              <a:uLnTx/>
              <a:uFillTx/>
              <a:latin typeface="汉仪新人文宋 75W" panose="00020600040101010101" pitchFamily="18" charset="-122"/>
              <a:ea typeface="汉仪新人文宋 75W" panose="00020600040101010101" pitchFamily="18" charset="-122"/>
              <a:cs typeface="+mn-ea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39800" y="-370205"/>
            <a:ext cx="11381740" cy="7040880"/>
            <a:chOff x="1480" y="-583"/>
            <a:chExt cx="17924" cy="11088"/>
          </a:xfrm>
        </p:grpSpPr>
        <p:sp>
          <p:nvSpPr>
            <p:cNvPr id="13" name="矩形 12"/>
            <p:cNvSpPr/>
            <p:nvPr/>
          </p:nvSpPr>
          <p:spPr>
            <a:xfrm>
              <a:off x="1480" y="9974"/>
              <a:ext cx="16656" cy="5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zh-CN" altLang="en-US" sz="1600" dirty="0">
                  <a:solidFill>
                    <a:srgbClr val="182F7B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+mn-lt"/>
                </a:rPr>
                <a:t>ＳＯＵＴＨ</a:t>
              </a:r>
              <a:r>
                <a:rPr lang="en-US" altLang="zh-CN" sz="1600" dirty="0">
                  <a:solidFill>
                    <a:srgbClr val="182F7B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+mn-lt"/>
                </a:rPr>
                <a:t>E</a:t>
              </a:r>
              <a:r>
                <a:rPr lang="zh-CN" altLang="en-US" sz="1600" dirty="0">
                  <a:solidFill>
                    <a:srgbClr val="182F7B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+mn-lt"/>
                </a:rPr>
                <a:t>ＡＳＴ　Ｕ</a:t>
              </a:r>
              <a:r>
                <a:rPr lang="en-US" altLang="zh-CN" sz="1600" dirty="0">
                  <a:solidFill>
                    <a:srgbClr val="182F7B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+mn-lt"/>
                </a:rPr>
                <a:t>N</a:t>
              </a:r>
              <a:r>
                <a:rPr lang="zh-CN" altLang="en-US" sz="1600" dirty="0">
                  <a:solidFill>
                    <a:srgbClr val="182F7B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+mn-lt"/>
                </a:rPr>
                <a:t>ＩＶＥＲＳＩＴＹ</a:t>
              </a:r>
              <a:endParaRPr lang="zh-CN" altLang="en-US" sz="1600" dirty="0">
                <a:solidFill>
                  <a:srgbClr val="182F7B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 rot="5400000">
              <a:off x="12970" y="3802"/>
              <a:ext cx="10819" cy="2049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lvl="0" algn="ctr"/>
              <a:r>
                <a:rPr lang="en-US" altLang="zh-CN" sz="8000" dirty="0">
                  <a:solidFill>
                    <a:schemeClr val="bg1">
                      <a:alpha val="15000"/>
                    </a:schemeClr>
                  </a:solidFill>
                  <a:latin typeface="汉仪雅酷黑 65W" panose="020B0604020202020204" pitchFamily="34" charset="-122"/>
                  <a:ea typeface="汉仪雅酷黑 65W" panose="020B0604020202020204" pitchFamily="34" charset="-122"/>
                  <a:cs typeface="Arial" panose="020B0604020202020204" pitchFamily="34" charset="0"/>
                  <a:sym typeface="+mn-lt"/>
                </a:rPr>
                <a:t>SOUTHEAST</a:t>
              </a:r>
              <a:endParaRPr lang="en-US" altLang="zh-CN" sz="8000" dirty="0">
                <a:solidFill>
                  <a:schemeClr val="bg1">
                    <a:alpha val="15000"/>
                  </a:schemeClr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Arial" panose="020B0604020202020204" pitchFamily="34" charset="0"/>
                <a:sym typeface="+mn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729189" y="2195512"/>
            <a:ext cx="10067807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noProof="0" dirty="0">
                <a:ln w="12700">
                  <a:noFill/>
                </a:ln>
                <a:gradFill>
                  <a:gsLst>
                    <a:gs pos="9000">
                      <a:srgbClr val="D8AD80"/>
                    </a:gs>
                    <a:gs pos="100000">
                      <a:srgbClr val="F5E8DC"/>
                    </a:gs>
                  </a:gsLst>
                  <a:lin ang="162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汉仪新人文宋 75W" panose="00020600040101010101" pitchFamily="18" charset="-122"/>
                <a:ea typeface="汉仪新人文宋 75W" panose="00020600040101010101" pitchFamily="18" charset="-122"/>
                <a:cs typeface="+mn-ea"/>
                <a:sym typeface="+mn-ea"/>
              </a:rPr>
              <a:t>Photo-based Attendance Marking System</a:t>
            </a:r>
            <a:endParaRPr lang="en-US" altLang="zh-CN" sz="6000" b="1" noProof="0" dirty="0">
              <a:ln w="12700">
                <a:noFill/>
              </a:ln>
              <a:gradFill>
                <a:gsLst>
                  <a:gs pos="9000">
                    <a:srgbClr val="D8AD80"/>
                  </a:gs>
                  <a:gs pos="100000">
                    <a:srgbClr val="F5E8DC"/>
                  </a:gs>
                </a:gsLst>
                <a:lin ang="16200000" scaled="1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汉仪新人文宋 75W" panose="00020600040101010101" pitchFamily="18" charset="-122"/>
              <a:ea typeface="汉仪新人文宋 75W" panose="00020600040101010101" pitchFamily="18" charset="-122"/>
              <a:cs typeface="+mn-ea"/>
              <a:sym typeface="+mn-ea"/>
            </a:endParaRPr>
          </a:p>
        </p:txBody>
      </p:sp>
      <p:grpSp>
        <p:nvGrpSpPr>
          <p:cNvPr id="10" name="组合 9"/>
          <p:cNvGrpSpPr>
            <a:grpSpLocks noChangeAspect="1"/>
          </p:cNvGrpSpPr>
          <p:nvPr/>
        </p:nvGrpSpPr>
        <p:grpSpPr>
          <a:xfrm>
            <a:off x="387985" y="194945"/>
            <a:ext cx="1618186" cy="703501"/>
            <a:chOff x="143" y="237"/>
            <a:chExt cx="2909" cy="1265"/>
          </a:xfrm>
        </p:grpSpPr>
        <p:pic>
          <p:nvPicPr>
            <p:cNvPr id="8" name="图片 7"/>
            <p:cNvPicPr/>
            <p:nvPr>
              <p:custDataLst>
                <p:tags r:id="rId3"/>
              </p:custDataLst>
            </p:nvPr>
          </p:nvPicPr>
          <p:blipFill>
            <a:blip r:embed="rId4" cstate="email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  <a:alpha val="0"/>
                  </a:srgbClr>
                </a:clrTo>
              </a:clrChange>
              <a:lum bright="94000" contrast="-70000"/>
            </a:blip>
            <a:srcRect l="33420" t="-971"/>
            <a:stretch>
              <a:fillRect/>
            </a:stretch>
          </p:blipFill>
          <p:spPr>
            <a:xfrm>
              <a:off x="1545" y="487"/>
              <a:ext cx="1507" cy="764"/>
            </a:xfrm>
            <a:prstGeom prst="rect">
              <a:avLst/>
            </a:prstGeom>
            <a:noFill/>
          </p:spPr>
        </p:pic>
        <p:pic>
          <p:nvPicPr>
            <p:cNvPr id="9" name="图片 8" descr="校院标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rcRect r="54601" b="34252"/>
            <a:stretch>
              <a:fillRect/>
            </a:stretch>
          </p:blipFill>
          <p:spPr>
            <a:xfrm>
              <a:off x="143" y="237"/>
              <a:ext cx="1337" cy="1265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2880995" y="337820"/>
            <a:ext cx="7308215" cy="412115"/>
            <a:chOff x="4537" y="532"/>
            <a:chExt cx="11509" cy="649"/>
          </a:xfrm>
        </p:grpSpPr>
        <p:pic>
          <p:nvPicPr>
            <p:cNvPr id="21" name="图片 20" descr="椭圆 3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4537" y="1159"/>
              <a:ext cx="11509" cy="2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" name="文本框 2"/>
            <p:cNvSpPr txBox="1"/>
            <p:nvPr>
              <p:custDataLst>
                <p:tags r:id="rId9"/>
              </p:custDataLst>
            </p:nvPr>
          </p:nvSpPr>
          <p:spPr>
            <a:xfrm>
              <a:off x="6581" y="532"/>
              <a:ext cx="5965" cy="628"/>
            </a:xfrm>
            <a:prstGeom prst="rect">
              <a:avLst/>
            </a:prstGeom>
            <a:noFill/>
            <a:effectLst>
              <a:softEdge rad="63500"/>
            </a:effectLst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400" b="1" i="0" u="none" strike="noStrike" cap="none" spc="0" normalizeH="0" baseline="0">
                  <a:ln>
                    <a:noFill/>
                  </a:ln>
                  <a:gradFill>
                    <a:gsLst>
                      <a:gs pos="0">
                        <a:srgbClr val="CDA23D"/>
                      </a:gs>
                      <a:gs pos="55000">
                        <a:srgbClr val="E1B64A"/>
                      </a:gs>
                      <a:gs pos="100000">
                        <a:srgbClr val="F7E880">
                          <a:lumMod val="99000"/>
                        </a:srgb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 w="12700">
                    <a:noFill/>
                  </a:ln>
                  <a:solidFill>
                    <a:srgbClr val="F8CEB2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汉仪新人文宋 75W" panose="00020600040101010101" pitchFamily="18" charset="-122"/>
                  <a:ea typeface="汉仪新人文宋 75W" panose="00020600040101010101" pitchFamily="18" charset="-122"/>
                  <a:cs typeface="+mn-ea"/>
                  <a:sym typeface="+mn-lt"/>
                </a:rPr>
                <a:t>SEU Pattern Classification</a:t>
              </a:r>
              <a:endParaRPr kumimoji="0" lang="en-US" altLang="zh-CN" sz="2000" b="0" i="0" u="none" strike="noStrike" kern="1200" cap="none" spc="0" normalizeH="0" baseline="0" noProof="0" dirty="0">
                <a:ln w="12700">
                  <a:noFill/>
                </a:ln>
                <a:solidFill>
                  <a:srgbClr val="F8CEB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汉仪新人文宋 75W" panose="00020600040101010101" pitchFamily="18" charset="-122"/>
                <a:ea typeface="汉仪新人文宋 75W" panose="00020600040101010101" pitchFamily="18" charset="-122"/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781050" y="4346575"/>
            <a:ext cx="8442960" cy="600710"/>
            <a:chOff x="1230" y="6845"/>
            <a:chExt cx="13296" cy="946"/>
          </a:xfrm>
        </p:grpSpPr>
        <p:sp>
          <p:nvSpPr>
            <p:cNvPr id="16" name="文本框 15"/>
            <p:cNvSpPr txBox="1"/>
            <p:nvPr/>
          </p:nvSpPr>
          <p:spPr>
            <a:xfrm>
              <a:off x="1230" y="7161"/>
              <a:ext cx="13296" cy="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Team members: 71123329 Jiawen Duan, 71123331 </a:t>
              </a:r>
              <a:r>
                <a:rPr lang="en-US" altLang="zh-CN" sz="20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Xirui</a:t>
              </a:r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 Yang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1378" y="6845"/>
              <a:ext cx="6661" cy="1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847850"/>
            <a:ext cx="5562600" cy="1219200"/>
          </a:xfrm>
          <a:prstGeom prst="rect">
            <a:avLst/>
          </a:prstGeom>
        </p:spPr>
      </p:pic>
      <p:pic>
        <p:nvPicPr>
          <p:cNvPr id="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076450"/>
            <a:ext cx="228600" cy="304800"/>
          </a:xfrm>
          <a:prstGeom prst="rect">
            <a:avLst/>
          </a:prstGeom>
        </p:spPr>
      </p:pic>
      <p:pic>
        <p:nvPicPr>
          <p:cNvPr id="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181350"/>
            <a:ext cx="5562600" cy="1162050"/>
          </a:xfrm>
          <a:prstGeom prst="rect">
            <a:avLst/>
          </a:prstGeom>
        </p:spPr>
      </p:pic>
      <p:pic>
        <p:nvPicPr>
          <p:cNvPr id="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409950"/>
            <a:ext cx="200025" cy="304800"/>
          </a:xfrm>
          <a:prstGeom prst="rect">
            <a:avLst/>
          </a:prstGeom>
        </p:spPr>
      </p:pic>
      <p:pic>
        <p:nvPicPr>
          <p:cNvPr id="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514850"/>
            <a:ext cx="5562600" cy="1257300"/>
          </a:xfrm>
          <a:prstGeom prst="rect">
            <a:avLst/>
          </a:prstGeom>
        </p:spPr>
      </p:pic>
      <p:pic>
        <p:nvPicPr>
          <p:cNvPr id="8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743450"/>
            <a:ext cx="228600" cy="304800"/>
          </a:xfrm>
          <a:prstGeom prst="rect">
            <a:avLst/>
          </a:prstGeom>
        </p:spPr>
      </p:pic>
      <p:pic>
        <p:nvPicPr>
          <p:cNvPr id="9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1733550"/>
            <a:ext cx="5562600" cy="4152900"/>
          </a:xfrm>
          <a:prstGeom prst="rect">
            <a:avLst/>
          </a:prstGeom>
        </p:spPr>
      </p:pic>
      <p:pic>
        <p:nvPicPr>
          <p:cNvPr id="10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2381250"/>
            <a:ext cx="457200" cy="457200"/>
          </a:xfrm>
          <a:prstGeom prst="rect">
            <a:avLst/>
          </a:prstGeom>
        </p:spPr>
      </p:pic>
      <p:pic>
        <p:nvPicPr>
          <p:cNvPr id="11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0350" y="2533650"/>
            <a:ext cx="190500" cy="152400"/>
          </a:xfrm>
          <a:prstGeom prst="rect">
            <a:avLst/>
          </a:prstGeom>
        </p:spPr>
      </p:pic>
      <p:pic>
        <p:nvPicPr>
          <p:cNvPr id="12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2990850"/>
            <a:ext cx="457200" cy="457200"/>
          </a:xfrm>
          <a:prstGeom prst="rect">
            <a:avLst/>
          </a:prstGeom>
        </p:spPr>
      </p:pic>
      <p:pic>
        <p:nvPicPr>
          <p:cNvPr id="13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0350" y="3143250"/>
            <a:ext cx="190500" cy="152400"/>
          </a:xfrm>
          <a:prstGeom prst="rect">
            <a:avLst/>
          </a:prstGeom>
        </p:spPr>
      </p:pic>
      <p:pic>
        <p:nvPicPr>
          <p:cNvPr id="14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3600450"/>
            <a:ext cx="457200" cy="457200"/>
          </a:xfrm>
          <a:prstGeom prst="rect">
            <a:avLst/>
          </a:prstGeom>
        </p:spPr>
      </p:pic>
      <p:pic>
        <p:nvPicPr>
          <p:cNvPr id="15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9400" y="3752850"/>
            <a:ext cx="152400" cy="152400"/>
          </a:xfrm>
          <a:prstGeom prst="rect">
            <a:avLst/>
          </a:prstGeom>
        </p:spPr>
      </p:pic>
      <p:pic>
        <p:nvPicPr>
          <p:cNvPr id="16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4210050"/>
            <a:ext cx="457200" cy="457200"/>
          </a:xfrm>
          <a:prstGeom prst="rect">
            <a:avLst/>
          </a:prstGeom>
        </p:spPr>
      </p:pic>
      <p:pic>
        <p:nvPicPr>
          <p:cNvPr id="17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4895850"/>
            <a:ext cx="5105400" cy="762000"/>
          </a:xfrm>
          <a:prstGeom prst="rect">
            <a:avLst/>
          </a:prstGeom>
        </p:spPr>
      </p:pic>
      <p:pic>
        <p:nvPicPr>
          <p:cNvPr id="18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5353050"/>
            <a:ext cx="5105400" cy="304800"/>
          </a:xfrm>
          <a:prstGeom prst="rect">
            <a:avLst/>
          </a:prstGeom>
        </p:spPr>
      </p:pic>
      <p:pic>
        <p:nvPicPr>
          <p:cNvPr id="19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5353050"/>
            <a:ext cx="3573661" cy="3048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7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 Background and Problem Statement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952499" y="2095500"/>
            <a:ext cx="2676071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Traditional attendance time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609600" y="2495550"/>
            <a:ext cx="518885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Each roll call takes an average of 5-10 minutes, accumulating to about 2 class periods wasted per semester.</a:t>
            </a:r>
            <a:endParaRPr lang="en-US" sz="1200" dirty="0"/>
          </a:p>
        </p:txBody>
      </p:sp>
      <p:sp>
        <p:nvSpPr>
          <p:cNvPr id="23" name="Text 3"/>
          <p:cNvSpPr/>
          <p:nvPr/>
        </p:nvSpPr>
        <p:spPr>
          <a:xfrm>
            <a:off x="923924" y="3429000"/>
            <a:ext cx="4410075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phenomenon of proxy answers is serious</a:t>
            </a:r>
            <a:endParaRPr lang="en-US" sz="1500" dirty="0"/>
          </a:p>
        </p:txBody>
      </p:sp>
      <p:sp>
        <p:nvSpPr>
          <p:cNvPr id="24" name="Text 4"/>
          <p:cNvSpPr/>
          <p:nvPr/>
        </p:nvSpPr>
        <p:spPr>
          <a:xfrm>
            <a:off x="609600" y="3829050"/>
            <a:ext cx="518541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Students commonly engage in "proxy answering" behavior, making it difficult for teachers to accurately determine true attendance.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952499" y="4762500"/>
            <a:ext cx="2494643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Existing system limitations</a:t>
            </a:r>
            <a:endParaRPr lang="en-US" sz="1500" dirty="0"/>
          </a:p>
        </p:txBody>
      </p:sp>
      <p:sp>
        <p:nvSpPr>
          <p:cNvPr id="26" name="Text 6"/>
          <p:cNvSpPr/>
          <p:nvPr/>
        </p:nvSpPr>
        <p:spPr>
          <a:xfrm>
            <a:off x="609600" y="5162550"/>
            <a:ext cx="5334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Existing open-source facial recognition attendance systems have a recognition rate of less than 70% in complex classroom environments.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6477000" y="1962150"/>
            <a:ext cx="5105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Classroom environment challenges</a:t>
            </a:r>
            <a:endParaRPr lang="en-US" sz="1500" dirty="0"/>
          </a:p>
        </p:txBody>
      </p:sp>
      <p:sp>
        <p:nvSpPr>
          <p:cNvPr id="28" name="Text 8"/>
          <p:cNvSpPr/>
          <p:nvPr/>
        </p:nvSpPr>
        <p:spPr>
          <a:xfrm>
            <a:off x="7086600" y="2400300"/>
            <a:ext cx="1866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Multiplayer overlaps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7086599" y="2628900"/>
            <a:ext cx="4169229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 the group photo, middle school students have a variety of postures and block each other</a:t>
            </a:r>
            <a:endParaRPr lang="en-US" sz="1050" dirty="0"/>
          </a:p>
        </p:txBody>
      </p:sp>
      <p:sp>
        <p:nvSpPr>
          <p:cNvPr id="30" name="Text 10"/>
          <p:cNvSpPr/>
          <p:nvPr/>
        </p:nvSpPr>
        <p:spPr>
          <a:xfrm>
            <a:off x="7086600" y="3009900"/>
            <a:ext cx="2400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Side face and bowed head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7086600" y="3238500"/>
            <a:ext cx="4169228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Students often face sideways, bow their heads, turn their heads and other non-standard postures</a:t>
            </a:r>
            <a:endParaRPr lang="en-US" sz="1050" dirty="0"/>
          </a:p>
        </p:txBody>
      </p:sp>
      <p:sp>
        <p:nvSpPr>
          <p:cNvPr id="32" name="Text 12"/>
          <p:cNvSpPr/>
          <p:nvPr/>
        </p:nvSpPr>
        <p:spPr>
          <a:xfrm>
            <a:off x="7086600" y="3619500"/>
            <a:ext cx="22669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Uneven lighting</a:t>
            </a:r>
            <a:endParaRPr lang="en-US" sz="1200" dirty="0"/>
          </a:p>
        </p:txBody>
      </p:sp>
      <p:sp>
        <p:nvSpPr>
          <p:cNvPr id="33" name="Text 13"/>
          <p:cNvSpPr/>
          <p:nvPr/>
        </p:nvSpPr>
        <p:spPr>
          <a:xfrm>
            <a:off x="7086600" y="3848100"/>
            <a:ext cx="3900714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Complex lighting conditions such as window backlight and projector reflection</a:t>
            </a:r>
            <a:endParaRPr lang="en-US" sz="1050" dirty="0"/>
          </a:p>
        </p:txBody>
      </p:sp>
      <p:sp>
        <p:nvSpPr>
          <p:cNvPr id="34" name="Text 14"/>
          <p:cNvSpPr/>
          <p:nvPr/>
        </p:nvSpPr>
        <p:spPr>
          <a:xfrm>
            <a:off x="7086600" y="4229100"/>
            <a:ext cx="22669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Partial occlusion</a:t>
            </a:r>
            <a:endParaRPr lang="en-US" sz="1200" dirty="0"/>
          </a:p>
        </p:txBody>
      </p:sp>
      <p:sp>
        <p:nvSpPr>
          <p:cNvPr id="35" name="Text 15"/>
          <p:cNvSpPr/>
          <p:nvPr/>
        </p:nvSpPr>
        <p:spPr>
          <a:xfrm>
            <a:off x="7086600" y="4457700"/>
            <a:ext cx="3516086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wearing masks, hair covering eyes, wearing hats and other covering situations</a:t>
            </a:r>
            <a:endParaRPr lang="en-US" sz="1050" dirty="0"/>
          </a:p>
        </p:txBody>
      </p:sp>
      <p:sp>
        <p:nvSpPr>
          <p:cNvPr id="36" name="Text 16"/>
          <p:cNvSpPr/>
          <p:nvPr/>
        </p:nvSpPr>
        <p:spPr>
          <a:xfrm>
            <a:off x="6477000" y="5029200"/>
            <a:ext cx="5334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Recognition performance of existing systems in real classroom environments:</a:t>
            </a:r>
            <a:endParaRPr lang="en-US" sz="1200" dirty="0"/>
          </a:p>
        </p:txBody>
      </p:sp>
      <p:sp>
        <p:nvSpPr>
          <p:cNvPr id="37" name="Text 17"/>
          <p:cNvSpPr/>
          <p:nvPr/>
        </p:nvSpPr>
        <p:spPr>
          <a:xfrm>
            <a:off x="8599714" y="5410200"/>
            <a:ext cx="1500447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Recognition rate &lt; 70%</a:t>
            </a:r>
            <a:endParaRPr lang="en-US" sz="1050" dirty="0"/>
          </a:p>
        </p:txBody>
      </p:sp>
      <p:sp>
        <p:nvSpPr>
          <p:cNvPr id="38" name="Text 18"/>
          <p:cNvSpPr/>
          <p:nvPr/>
        </p:nvSpPr>
        <p:spPr>
          <a:xfrm>
            <a:off x="6591300" y="5410200"/>
            <a:ext cx="9271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Legacy system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905000"/>
            <a:ext cx="6766471" cy="952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152650"/>
            <a:ext cx="420737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69" y="2305050"/>
            <a:ext cx="17145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009900"/>
            <a:ext cx="6766471" cy="914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16230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" y="3314700"/>
            <a:ext cx="1905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4038600"/>
            <a:ext cx="6766471" cy="762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4191000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5325" y="4343400"/>
            <a:ext cx="13335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4980214"/>
            <a:ext cx="6766471" cy="901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400" y="5132614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5285014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76071" y="1905000"/>
            <a:ext cx="2160240" cy="800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13241" y="2019300"/>
            <a:ext cx="28575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50611" y="1905000"/>
            <a:ext cx="2160389" cy="800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16505" y="2019300"/>
            <a:ext cx="2286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76071" y="2819400"/>
            <a:ext cx="2160240" cy="8001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13241" y="2933700"/>
            <a:ext cx="28575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650611" y="2819400"/>
            <a:ext cx="2160389" cy="8001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16505" y="2933700"/>
            <a:ext cx="228600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76071" y="3848100"/>
            <a:ext cx="4434929" cy="2171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28471" y="4419600"/>
            <a:ext cx="304800" cy="304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585621" y="4495800"/>
            <a:ext cx="1905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528471" y="4953000"/>
            <a:ext cx="304800" cy="304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23721" y="5029200"/>
            <a:ext cx="1143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28471" y="5486400"/>
            <a:ext cx="304800" cy="304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604671" y="5562600"/>
            <a:ext cx="152400" cy="1524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7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Overall design of the system</a:t>
            </a:r>
            <a:endParaRPr lang="en-US" sz="2700" dirty="0"/>
          </a:p>
        </p:txBody>
      </p:sp>
      <p:sp>
        <p:nvSpPr>
          <p:cNvPr id="33" name="Text 1"/>
          <p:cNvSpPr/>
          <p:nvPr/>
        </p:nvSpPr>
        <p:spPr>
          <a:xfrm>
            <a:off x="381000" y="1447800"/>
            <a:ext cx="6766471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b="1" dirty="0">
                <a:solidFill>
                  <a:srgbClr val="1D4E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34" name="Text 2"/>
          <p:cNvSpPr/>
          <p:nvPr/>
        </p:nvSpPr>
        <p:spPr>
          <a:xfrm>
            <a:off x="1106537" y="2057400"/>
            <a:ext cx="5888534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Front end layer</a:t>
            </a:r>
            <a:endParaRPr lang="en-US" sz="1350" dirty="0"/>
          </a:p>
        </p:txBody>
      </p:sp>
      <p:sp>
        <p:nvSpPr>
          <p:cNvPr id="35" name="Text 3"/>
          <p:cNvSpPr/>
          <p:nvPr/>
        </p:nvSpPr>
        <p:spPr>
          <a:xfrm>
            <a:off x="1106536" y="2324100"/>
            <a:ext cx="5954663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 err="1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Streamlit</a:t>
            </a: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provides a beautiful and responsive web management interface that supports class selection, student management, photo upload, real-time recognition of progress and result display</a:t>
            </a:r>
            <a:endParaRPr lang="en-US" sz="1050" dirty="0"/>
          </a:p>
        </p:txBody>
      </p:sp>
      <p:sp>
        <p:nvSpPr>
          <p:cNvPr id="36" name="Text 4"/>
          <p:cNvSpPr/>
          <p:nvPr/>
        </p:nvSpPr>
        <p:spPr>
          <a:xfrm>
            <a:off x="1143000" y="3162300"/>
            <a:ext cx="40156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Business logic layer</a:t>
            </a:r>
            <a:endParaRPr lang="en-US" sz="1350" dirty="0"/>
          </a:p>
        </p:txBody>
      </p:sp>
      <p:sp>
        <p:nvSpPr>
          <p:cNvPr id="37" name="Text 5"/>
          <p:cNvSpPr/>
          <p:nvPr/>
        </p:nvSpPr>
        <p:spPr>
          <a:xfrm>
            <a:off x="1143000" y="3429000"/>
            <a:ext cx="5438329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Python core module, responsible for process scheduling, database operation, recognition result merging and deduplication</a:t>
            </a:r>
            <a:endParaRPr lang="en-US" sz="1050" dirty="0"/>
          </a:p>
        </p:txBody>
      </p:sp>
      <p:sp>
        <p:nvSpPr>
          <p:cNvPr id="38" name="Text 6"/>
          <p:cNvSpPr/>
          <p:nvPr/>
        </p:nvSpPr>
        <p:spPr>
          <a:xfrm>
            <a:off x="1143000" y="4191000"/>
            <a:ext cx="2941439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persistence layer</a:t>
            </a:r>
            <a:endParaRPr lang="en-US" sz="1350" dirty="0"/>
          </a:p>
        </p:txBody>
      </p:sp>
      <p:sp>
        <p:nvSpPr>
          <p:cNvPr id="39" name="Text 7"/>
          <p:cNvSpPr/>
          <p:nvPr/>
        </p:nvSpPr>
        <p:spPr>
          <a:xfrm>
            <a:off x="1143000" y="4457699"/>
            <a:ext cx="5735538" cy="266699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SQLite lightweight embedded database with zero configuration and single-file deployment</a:t>
            </a:r>
            <a:endParaRPr lang="en-US" sz="1050" dirty="0"/>
          </a:p>
        </p:txBody>
      </p:sp>
      <p:sp>
        <p:nvSpPr>
          <p:cNvPr id="40" name="Text 8"/>
          <p:cNvSpPr/>
          <p:nvPr/>
        </p:nvSpPr>
        <p:spPr>
          <a:xfrm>
            <a:off x="1143000" y="5132614"/>
            <a:ext cx="477961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Algorithm layer</a:t>
            </a:r>
            <a:endParaRPr lang="en-US" sz="1350" dirty="0"/>
          </a:p>
        </p:txBody>
      </p:sp>
      <p:sp>
        <p:nvSpPr>
          <p:cNvPr id="41" name="Text 9"/>
          <p:cNvSpPr/>
          <p:nvPr/>
        </p:nvSpPr>
        <p:spPr>
          <a:xfrm>
            <a:off x="1143000" y="5399314"/>
            <a:ext cx="5735538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OpenCV is responsible for image enhancement and preprocessing, </a:t>
            </a:r>
            <a:r>
              <a:rPr lang="en-US" sz="1050" dirty="0" err="1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face_recognition</a:t>
            </a: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face detection and 128-dimensional feature extraction</a:t>
            </a:r>
            <a:endParaRPr lang="en-US" sz="1050" dirty="0"/>
          </a:p>
        </p:txBody>
      </p:sp>
      <p:sp>
        <p:nvSpPr>
          <p:cNvPr id="42" name="Text 10"/>
          <p:cNvSpPr/>
          <p:nvPr/>
        </p:nvSpPr>
        <p:spPr>
          <a:xfrm>
            <a:off x="7376071" y="1447800"/>
            <a:ext cx="4434929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b="1" dirty="0">
                <a:solidFill>
                  <a:srgbClr val="1D4E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43" name="Text 11"/>
          <p:cNvSpPr/>
          <p:nvPr/>
        </p:nvSpPr>
        <p:spPr>
          <a:xfrm>
            <a:off x="8248501" y="2400300"/>
            <a:ext cx="498277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Python</a:t>
            </a:r>
            <a:endParaRPr lang="en-US" sz="1050" dirty="0"/>
          </a:p>
        </p:txBody>
      </p:sp>
      <p:sp>
        <p:nvSpPr>
          <p:cNvPr id="44" name="Text 12"/>
          <p:cNvSpPr/>
          <p:nvPr/>
        </p:nvSpPr>
        <p:spPr>
          <a:xfrm>
            <a:off x="10474970" y="2400300"/>
            <a:ext cx="613827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OpenCV</a:t>
            </a:r>
            <a:endParaRPr lang="en-US" sz="1050" dirty="0"/>
          </a:p>
        </p:txBody>
      </p:sp>
      <p:sp>
        <p:nvSpPr>
          <p:cNvPr id="45" name="Text 13"/>
          <p:cNvSpPr/>
          <p:nvPr/>
        </p:nvSpPr>
        <p:spPr>
          <a:xfrm>
            <a:off x="7966770" y="3314700"/>
            <a:ext cx="1174433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face_recognition</a:t>
            </a:r>
            <a:endParaRPr lang="en-US" sz="1050" dirty="0"/>
          </a:p>
        </p:txBody>
      </p:sp>
      <p:sp>
        <p:nvSpPr>
          <p:cNvPr id="46" name="Text 14"/>
          <p:cNvSpPr/>
          <p:nvPr/>
        </p:nvSpPr>
        <p:spPr>
          <a:xfrm>
            <a:off x="10526911" y="3314700"/>
            <a:ext cx="489347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SQLite</a:t>
            </a:r>
            <a:endParaRPr lang="en-US" sz="1050" dirty="0"/>
          </a:p>
        </p:txBody>
      </p:sp>
      <p:sp>
        <p:nvSpPr>
          <p:cNvPr id="47" name="Text 15"/>
          <p:cNvSpPr/>
          <p:nvPr/>
        </p:nvSpPr>
        <p:spPr>
          <a:xfrm>
            <a:off x="7528471" y="4000500"/>
            <a:ext cx="4130129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1D4E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Core strengths</a:t>
            </a:r>
            <a:endParaRPr lang="en-US" sz="1500" dirty="0"/>
          </a:p>
        </p:txBody>
      </p:sp>
      <p:sp>
        <p:nvSpPr>
          <p:cNvPr id="48" name="Text 16"/>
          <p:cNvSpPr/>
          <p:nvPr/>
        </p:nvSpPr>
        <p:spPr>
          <a:xfrm>
            <a:off x="7947571" y="4381500"/>
            <a:ext cx="20002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Zero hardware costs</a:t>
            </a:r>
            <a:endParaRPr lang="en-US" sz="1200" dirty="0"/>
          </a:p>
        </p:txBody>
      </p:sp>
      <p:sp>
        <p:nvSpPr>
          <p:cNvPr id="49" name="Text 17"/>
          <p:cNvSpPr/>
          <p:nvPr/>
        </p:nvSpPr>
        <p:spPr>
          <a:xfrm>
            <a:off x="7947571" y="4610100"/>
            <a:ext cx="3438886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Only a regular laptop, pure software deployment</a:t>
            </a:r>
            <a:endParaRPr lang="en-US" sz="1050" dirty="0"/>
          </a:p>
        </p:txBody>
      </p:sp>
      <p:sp>
        <p:nvSpPr>
          <p:cNvPr id="50" name="Text 18"/>
          <p:cNvSpPr/>
          <p:nvPr/>
        </p:nvSpPr>
        <p:spPr>
          <a:xfrm>
            <a:off x="7947571" y="4914900"/>
            <a:ext cx="138559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High efficiency</a:t>
            </a:r>
            <a:endParaRPr lang="en-US" sz="1200" dirty="0"/>
          </a:p>
        </p:txBody>
      </p:sp>
      <p:sp>
        <p:nvSpPr>
          <p:cNvPr id="51" name="Text 19"/>
          <p:cNvSpPr/>
          <p:nvPr/>
        </p:nvSpPr>
        <p:spPr>
          <a:xfrm>
            <a:off x="7947570" y="5143500"/>
            <a:ext cx="3711029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processing time for a single lesson is only 8.7 seconds</a:t>
            </a:r>
            <a:endParaRPr lang="en-US" sz="1050" dirty="0"/>
          </a:p>
        </p:txBody>
      </p:sp>
      <p:sp>
        <p:nvSpPr>
          <p:cNvPr id="52" name="Text 20"/>
          <p:cNvSpPr/>
          <p:nvPr/>
        </p:nvSpPr>
        <p:spPr>
          <a:xfrm>
            <a:off x="7947571" y="5448300"/>
            <a:ext cx="2089845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High accuracy</a:t>
            </a:r>
            <a:endParaRPr lang="en-US" sz="1200" dirty="0"/>
          </a:p>
        </p:txBody>
      </p:sp>
      <p:sp>
        <p:nvSpPr>
          <p:cNvPr id="53" name="Text 21"/>
          <p:cNvSpPr/>
          <p:nvPr/>
        </p:nvSpPr>
        <p:spPr>
          <a:xfrm>
            <a:off x="7947571" y="5676900"/>
            <a:ext cx="3518715" cy="205014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Recognition of F1 score of 88.9%, accuracy of 90.0%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1214665"/>
            <a:ext cx="3657600" cy="349567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367065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4375" y="1481365"/>
            <a:ext cx="17145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1843315"/>
            <a:ext cx="762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2110015"/>
            <a:ext cx="762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2608944"/>
            <a:ext cx="762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500" y="3011261"/>
            <a:ext cx="3352800" cy="1524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1214665"/>
            <a:ext cx="3657600" cy="3495674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1367065"/>
            <a:ext cx="3810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1481365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5800" y="1923142"/>
            <a:ext cx="762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5800" y="2371268"/>
            <a:ext cx="762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2940" y="2860668"/>
            <a:ext cx="762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5038725"/>
            <a:ext cx="11430000" cy="12573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5553075"/>
            <a:ext cx="4984700" cy="381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5553075"/>
            <a:ext cx="3409504" cy="381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18100" y="5553075"/>
            <a:ext cx="4984700" cy="381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18100" y="5553075"/>
            <a:ext cx="4820096" cy="381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75888" y="5686425"/>
            <a:ext cx="200025" cy="304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049000" y="5534025"/>
            <a:ext cx="609600" cy="6096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7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Core algorithm innovation</a:t>
            </a:r>
            <a:endParaRPr lang="en-US" sz="2700" dirty="0"/>
          </a:p>
        </p:txBody>
      </p:sp>
      <p:grpSp>
        <p:nvGrpSpPr>
          <p:cNvPr id="31" name="组合 30"/>
          <p:cNvGrpSpPr/>
          <p:nvPr/>
        </p:nvGrpSpPr>
        <p:grpSpPr>
          <a:xfrm>
            <a:off x="491671" y="1203780"/>
            <a:ext cx="3657600" cy="3495675"/>
            <a:chOff x="381000" y="1214664"/>
            <a:chExt cx="3657600" cy="3495675"/>
          </a:xfrm>
        </p:grpSpPr>
        <p:pic>
          <p:nvPicPr>
            <p:cNvPr id="4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1000" y="1214664"/>
              <a:ext cx="3657600" cy="3495675"/>
            </a:xfrm>
            <a:prstGeom prst="rect">
              <a:avLst/>
            </a:prstGeom>
          </p:spPr>
        </p:pic>
        <p:pic>
          <p:nvPicPr>
            <p:cNvPr id="5" name="Image 3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33400" y="1367065"/>
              <a:ext cx="381000" cy="381000"/>
            </a:xfrm>
            <a:prstGeom prst="rect">
              <a:avLst/>
            </a:prstGeom>
          </p:spPr>
        </p:pic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47700" y="1481365"/>
              <a:ext cx="152400" cy="152400"/>
            </a:xfrm>
            <a:prstGeom prst="rect">
              <a:avLst/>
            </a:prstGeom>
          </p:spPr>
        </p:pic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3400" y="1843315"/>
              <a:ext cx="76200" cy="152400"/>
            </a:xfrm>
            <a:prstGeom prst="rect">
              <a:avLst/>
            </a:prstGeom>
          </p:spPr>
        </p:pic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3400" y="2110015"/>
              <a:ext cx="76200" cy="152400"/>
            </a:xfrm>
            <a:prstGeom prst="rect">
              <a:avLst/>
            </a:prstGeom>
          </p:spPr>
        </p:pic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3400" y="2376715"/>
              <a:ext cx="76200" cy="152400"/>
            </a:xfrm>
            <a:prstGeom prst="rect">
              <a:avLst/>
            </a:prstGeom>
          </p:spPr>
        </p:pic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33400" y="2900590"/>
              <a:ext cx="3352800" cy="1676400"/>
            </a:xfrm>
            <a:prstGeom prst="rect">
              <a:avLst/>
            </a:prstGeom>
          </p:spPr>
        </p:pic>
        <p:sp>
          <p:nvSpPr>
            <p:cNvPr id="33" name="Text 1"/>
            <p:cNvSpPr/>
            <p:nvPr/>
          </p:nvSpPr>
          <p:spPr>
            <a:xfrm>
              <a:off x="1028700" y="1424215"/>
              <a:ext cx="2667000" cy="304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>
                <a:lnSpc>
                  <a:spcPts val="2100"/>
                </a:lnSpc>
              </a:pPr>
              <a:r>
                <a:rPr lang="en-US" sz="1500" b="1" dirty="0">
                  <a:solidFill>
                    <a:srgbClr val="1F2937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Triple detection mechanism</a:t>
              </a:r>
              <a:endParaRPr lang="en-US" sz="1500" dirty="0"/>
            </a:p>
          </p:txBody>
        </p:sp>
        <p:sp>
          <p:nvSpPr>
            <p:cNvPr id="34" name="Text 2"/>
            <p:cNvSpPr/>
            <p:nvPr/>
          </p:nvSpPr>
          <p:spPr>
            <a:xfrm>
              <a:off x="495300" y="1824265"/>
              <a:ext cx="35433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342900" indent="-342900">
                <a:lnSpc>
                  <a:spcPts val="180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4B556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First layer: HOG rapid detection</a:t>
              </a:r>
              <a:endParaRPr lang="en-US" sz="1200" dirty="0"/>
            </a:p>
          </p:txBody>
        </p:sp>
        <p:sp>
          <p:nvSpPr>
            <p:cNvPr id="35" name="Text 3"/>
            <p:cNvSpPr/>
            <p:nvPr/>
          </p:nvSpPr>
          <p:spPr>
            <a:xfrm>
              <a:off x="495300" y="2090965"/>
              <a:ext cx="35433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342900" indent="-342900">
                <a:lnSpc>
                  <a:spcPts val="180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4B556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The second layer: CNN accurate detection</a:t>
              </a:r>
              <a:endParaRPr lang="en-US" sz="1200" dirty="0"/>
            </a:p>
          </p:txBody>
        </p:sp>
        <p:sp>
          <p:nvSpPr>
            <p:cNvPr id="36" name="Text 4"/>
            <p:cNvSpPr/>
            <p:nvPr/>
          </p:nvSpPr>
          <p:spPr>
            <a:xfrm>
              <a:off x="495300" y="2357665"/>
              <a:ext cx="3444240" cy="3048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342900" indent="-342900">
                <a:lnSpc>
                  <a:spcPts val="1800"/>
                </a:lnSpc>
                <a:buSzPct val="100000"/>
                <a:buChar char="•"/>
              </a:pPr>
              <a:r>
                <a:rPr lang="en-US" sz="1200" dirty="0">
                  <a:solidFill>
                    <a:srgbClr val="4B556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Third: Image enhancement + multi-fold </a:t>
              </a:r>
              <a:r>
                <a:rPr lang="en-US" sz="1200" dirty="0" err="1">
                  <a:solidFill>
                    <a:srgbClr val="4B5563"/>
                  </a:solidFill>
                  <a:latin typeface="Arial" panose="020B0604020202020204" pitchFamily="34" charset="0"/>
                  <a:ea typeface="Arial" panose="020B0604020202020204" pitchFamily="34" charset="-122"/>
                  <a:cs typeface="Arial" panose="020B0604020202020204" pitchFamily="34" charset="-120"/>
                </a:rPr>
                <a:t>upsampling</a:t>
              </a:r>
              <a:endParaRPr lang="en-US" sz="1200" dirty="0"/>
            </a:p>
          </p:txBody>
        </p:sp>
        <p:sp>
          <p:nvSpPr>
            <p:cNvPr id="37" name="Text 5"/>
            <p:cNvSpPr/>
            <p:nvPr/>
          </p:nvSpPr>
          <p:spPr>
            <a:xfrm>
              <a:off x="609600" y="2900590"/>
              <a:ext cx="3352800" cy="1676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4B5563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face_locations = face_recognition.face_locations(rgb_image, model='hog')
if not face_locations:
face_locations = face_recognition.face_locations(rgb_image, model='cnn')
if not face_locations:
enhanced = cv2.convertScaleAbs(rgb_image, alpha=1.2, beta=30)</a:t>
              </a:r>
              <a:endParaRPr lang="en-US" sz="900" dirty="0"/>
            </a:p>
          </p:txBody>
        </p:sp>
      </p:grpSp>
      <p:sp>
        <p:nvSpPr>
          <p:cNvPr id="38" name="Text 6"/>
          <p:cNvSpPr/>
          <p:nvPr/>
        </p:nvSpPr>
        <p:spPr>
          <a:xfrm>
            <a:off x="4924425" y="1329874"/>
            <a:ext cx="30099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highest similarity deduplication of multiple photos</a:t>
            </a:r>
            <a:endParaRPr lang="en-US" sz="1500" dirty="0"/>
          </a:p>
        </p:txBody>
      </p:sp>
      <p:sp>
        <p:nvSpPr>
          <p:cNvPr id="39" name="Text 7"/>
          <p:cNvSpPr/>
          <p:nvPr/>
        </p:nvSpPr>
        <p:spPr>
          <a:xfrm>
            <a:off x="4381500" y="1824265"/>
            <a:ext cx="3543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Global highest similarity retention strategy</a:t>
            </a:r>
            <a:endParaRPr lang="en-US" sz="1200" dirty="0"/>
          </a:p>
        </p:txBody>
      </p:sp>
      <p:sp>
        <p:nvSpPr>
          <p:cNvPr id="40" name="Text 8"/>
          <p:cNvSpPr/>
          <p:nvPr/>
        </p:nvSpPr>
        <p:spPr>
          <a:xfrm>
            <a:off x="4381500" y="2090965"/>
            <a:ext cx="3543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Completely solve the problem of repeated marking of the same student</a:t>
            </a:r>
            <a:endParaRPr lang="en-US" sz="1200" dirty="0"/>
          </a:p>
        </p:txBody>
      </p:sp>
      <p:sp>
        <p:nvSpPr>
          <p:cNvPr id="41" name="Text 9"/>
          <p:cNvSpPr/>
          <p:nvPr/>
        </p:nvSpPr>
        <p:spPr>
          <a:xfrm>
            <a:off x="4381500" y="2554061"/>
            <a:ext cx="3352800" cy="28076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Significantly reduce the false identification rate</a:t>
            </a:r>
            <a:endParaRPr lang="en-US" sz="1200" dirty="0"/>
          </a:p>
        </p:txBody>
      </p:sp>
      <p:sp>
        <p:nvSpPr>
          <p:cNvPr id="42" name="Text 10"/>
          <p:cNvSpPr/>
          <p:nvPr/>
        </p:nvSpPr>
        <p:spPr>
          <a:xfrm>
            <a:off x="4495800" y="3082471"/>
            <a:ext cx="3352800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best_similarity &gt;= 0.42:
if best_student.id not in recognized_students:
recognized_students[best_student.id] = (best_student.name, best_similarity)
else:
if best_similarity &gt; recognized_students[best_student.id][1]:
recognized_students[best_student.id] = (best_student.name, best_similarity)</a:t>
            </a:r>
            <a:endParaRPr lang="en-US" sz="900" dirty="0"/>
          </a:p>
        </p:txBody>
      </p:sp>
      <p:sp>
        <p:nvSpPr>
          <p:cNvPr id="43" name="Text 11"/>
          <p:cNvSpPr/>
          <p:nvPr/>
        </p:nvSpPr>
        <p:spPr>
          <a:xfrm>
            <a:off x="8801100" y="1424214"/>
            <a:ext cx="2857500" cy="28121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Dynamic threshold adjustment</a:t>
            </a:r>
            <a:endParaRPr lang="en-US" sz="1500" dirty="0"/>
          </a:p>
        </p:txBody>
      </p:sp>
      <p:sp>
        <p:nvSpPr>
          <p:cNvPr id="44" name="Text 12"/>
          <p:cNvSpPr/>
          <p:nvPr/>
        </p:nvSpPr>
        <p:spPr>
          <a:xfrm>
            <a:off x="8267700" y="1832431"/>
            <a:ext cx="3318329" cy="28121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Reduced the recognition threshold from the default 0.6 to 0.42</a:t>
            </a:r>
            <a:endParaRPr lang="en-US" sz="1200" dirty="0"/>
          </a:p>
        </p:txBody>
      </p:sp>
      <p:sp>
        <p:nvSpPr>
          <p:cNvPr id="45" name="Text 13"/>
          <p:cNvSpPr/>
          <p:nvPr/>
        </p:nvSpPr>
        <p:spPr>
          <a:xfrm>
            <a:off x="8267700" y="2319564"/>
            <a:ext cx="3368040" cy="213177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Optimized for classroom small face and side face scenes</a:t>
            </a:r>
            <a:endParaRPr lang="en-US" sz="1200" dirty="0"/>
          </a:p>
        </p:txBody>
      </p:sp>
      <p:sp>
        <p:nvSpPr>
          <p:cNvPr id="46" name="Text 14"/>
          <p:cNvSpPr/>
          <p:nvPr/>
        </p:nvSpPr>
        <p:spPr>
          <a:xfrm>
            <a:off x="8264071" y="2834821"/>
            <a:ext cx="3548795" cy="25037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Improve the recall rate under the premise of ensuring a very low false identification rate</a:t>
            </a:r>
            <a:endParaRPr lang="en-US" sz="1200" dirty="0"/>
          </a:p>
        </p:txBody>
      </p:sp>
      <p:sp>
        <p:nvSpPr>
          <p:cNvPr id="47" name="Text 15"/>
          <p:cNvSpPr/>
          <p:nvPr/>
        </p:nvSpPr>
        <p:spPr>
          <a:xfrm>
            <a:off x="8282940" y="3461883"/>
            <a:ext cx="3352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Comparison of threshold selection experiments:</a:t>
            </a:r>
            <a:endParaRPr lang="en-US" sz="1050" dirty="0"/>
          </a:p>
        </p:txBody>
      </p:sp>
      <p:sp>
        <p:nvSpPr>
          <p:cNvPr id="48" name="Text 16"/>
          <p:cNvSpPr/>
          <p:nvPr/>
        </p:nvSpPr>
        <p:spPr>
          <a:xfrm>
            <a:off x="8282940" y="3690483"/>
            <a:ext cx="402336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0.60 (default): 95.2% accuracy, 72.5% recall</a:t>
            </a:r>
            <a:endParaRPr lang="en-US" sz="1050" dirty="0"/>
          </a:p>
        </p:txBody>
      </p:sp>
      <p:sp>
        <p:nvSpPr>
          <p:cNvPr id="49" name="Text 17"/>
          <p:cNvSpPr/>
          <p:nvPr/>
        </p:nvSpPr>
        <p:spPr>
          <a:xfrm>
            <a:off x="8282940" y="3919083"/>
            <a:ext cx="402336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0.42 (this article): Accuracy 87.8%, Recall 90.0%</a:t>
            </a:r>
            <a:endParaRPr lang="en-US" sz="1050" dirty="0"/>
          </a:p>
        </p:txBody>
      </p:sp>
      <p:sp>
        <p:nvSpPr>
          <p:cNvPr id="50" name="Text 18"/>
          <p:cNvSpPr/>
          <p:nvPr/>
        </p:nvSpPr>
        <p:spPr>
          <a:xfrm>
            <a:off x="533400" y="5191125"/>
            <a:ext cx="11125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Performance improvements</a:t>
            </a:r>
            <a:endParaRPr lang="en-US" sz="1500" dirty="0"/>
          </a:p>
        </p:txBody>
      </p:sp>
      <p:sp>
        <p:nvSpPr>
          <p:cNvPr id="51" name="Text 19"/>
          <p:cNvSpPr/>
          <p:nvPr/>
        </p:nvSpPr>
        <p:spPr>
          <a:xfrm>
            <a:off x="647700" y="5648325"/>
            <a:ext cx="453807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68.4%</a:t>
            </a:r>
            <a:endParaRPr lang="en-US" sz="1050" dirty="0"/>
          </a:p>
        </p:txBody>
      </p:sp>
      <p:sp>
        <p:nvSpPr>
          <p:cNvPr id="52" name="Text 20"/>
          <p:cNvSpPr/>
          <p:nvPr/>
        </p:nvSpPr>
        <p:spPr>
          <a:xfrm>
            <a:off x="533400" y="5972174"/>
            <a:ext cx="1230086" cy="23223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9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Before optimization</a:t>
            </a:r>
            <a:endParaRPr lang="en-US" sz="900" dirty="0"/>
          </a:p>
        </p:txBody>
      </p:sp>
      <p:sp>
        <p:nvSpPr>
          <p:cNvPr id="53" name="Text 21"/>
          <p:cNvSpPr/>
          <p:nvPr/>
        </p:nvSpPr>
        <p:spPr>
          <a:xfrm>
            <a:off x="4495800" y="6005285"/>
            <a:ext cx="1141363" cy="11929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9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Face detection rate</a:t>
            </a:r>
            <a:endParaRPr lang="en-US" sz="900" dirty="0"/>
          </a:p>
        </p:txBody>
      </p:sp>
      <p:sp>
        <p:nvSpPr>
          <p:cNvPr id="54" name="Text 22"/>
          <p:cNvSpPr/>
          <p:nvPr/>
        </p:nvSpPr>
        <p:spPr>
          <a:xfrm>
            <a:off x="9845725" y="5648325"/>
            <a:ext cx="453807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90.0%</a:t>
            </a:r>
            <a:endParaRPr lang="en-US" sz="1050" dirty="0"/>
          </a:p>
        </p:txBody>
      </p:sp>
      <p:sp>
        <p:nvSpPr>
          <p:cNvPr id="55" name="Text 23"/>
          <p:cNvSpPr/>
          <p:nvPr/>
        </p:nvSpPr>
        <p:spPr>
          <a:xfrm>
            <a:off x="5595253" y="6005285"/>
            <a:ext cx="959586" cy="11929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9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After optimization</a:t>
            </a:r>
            <a:endParaRPr lang="en-US" sz="900" dirty="0"/>
          </a:p>
        </p:txBody>
      </p:sp>
      <p:sp>
        <p:nvSpPr>
          <p:cNvPr id="56" name="Text 24"/>
          <p:cNvSpPr/>
          <p:nvPr/>
        </p:nvSpPr>
        <p:spPr>
          <a:xfrm>
            <a:off x="9475738" y="5972175"/>
            <a:ext cx="1141363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90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Face detection rate</a:t>
            </a:r>
            <a:endParaRPr lang="en-US" sz="900" dirty="0"/>
          </a:p>
        </p:txBody>
      </p:sp>
      <p:sp>
        <p:nvSpPr>
          <p:cNvPr id="57" name="Text 25"/>
          <p:cNvSpPr/>
          <p:nvPr/>
        </p:nvSpPr>
        <p:spPr>
          <a:xfrm>
            <a:off x="11028164" y="5705475"/>
            <a:ext cx="78170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+21.6%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2876550"/>
            <a:ext cx="2438400" cy="1790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0" y="3067050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125" y="3200400"/>
            <a:ext cx="2857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730" y="1143000"/>
            <a:ext cx="2526030" cy="17335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130" y="1295400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" y="1409700"/>
            <a:ext cx="1905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530" y="1781175"/>
            <a:ext cx="13335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530" y="2009775"/>
            <a:ext cx="13335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530" y="2434315"/>
            <a:ext cx="133350" cy="1333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7800" y="1104900"/>
            <a:ext cx="2617470" cy="17716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0200" y="1257300"/>
            <a:ext cx="3810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15450" y="1371600"/>
            <a:ext cx="1905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2600" y="1743075"/>
            <a:ext cx="13335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2600" y="1971675"/>
            <a:ext cx="133350" cy="1333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2600" y="2352674"/>
            <a:ext cx="133350" cy="1333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334" y="4995863"/>
            <a:ext cx="2617470" cy="15845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4734" y="5148263"/>
            <a:ext cx="381000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034" y="5262563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134" y="5590496"/>
            <a:ext cx="133350" cy="1333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134" y="5862638"/>
            <a:ext cx="133350" cy="1333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134" y="6258150"/>
            <a:ext cx="133350" cy="1333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7800" y="5029200"/>
            <a:ext cx="2617470" cy="15845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20200" y="5181600"/>
            <a:ext cx="381000" cy="381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34500" y="529590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2600" y="5667375"/>
            <a:ext cx="133350" cy="13335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2600" y="5895975"/>
            <a:ext cx="133350" cy="1333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2600" y="6269715"/>
            <a:ext cx="133350" cy="13335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28364" y="1906276"/>
            <a:ext cx="606962" cy="587998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72804" y="1868176"/>
            <a:ext cx="999392" cy="587998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19804" y="5087626"/>
            <a:ext cx="999392" cy="587998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72804" y="5087626"/>
            <a:ext cx="999392" cy="587998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38500" y="1324570"/>
            <a:ext cx="5715000" cy="4894659"/>
          </a:xfrm>
          <a:prstGeom prst="rect">
            <a:avLst/>
          </a:prstGeom>
        </p:spPr>
      </p:pic>
      <p:pic>
        <p:nvPicPr>
          <p:cNvPr id="36" name="Image 34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8500" y="1346302"/>
            <a:ext cx="5715000" cy="4851194"/>
          </a:xfrm>
          <a:prstGeom prst="rect">
            <a:avLst/>
          </a:prstGeom>
        </p:spPr>
      </p:pic>
      <p:sp>
        <p:nvSpPr>
          <p:cNvPr id="38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7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function module</a:t>
            </a:r>
            <a:endParaRPr lang="en-US" sz="2700" dirty="0"/>
          </a:p>
        </p:txBody>
      </p:sp>
      <p:sp>
        <p:nvSpPr>
          <p:cNvPr id="41" name="Text 3"/>
          <p:cNvSpPr/>
          <p:nvPr/>
        </p:nvSpPr>
        <p:spPr>
          <a:xfrm>
            <a:off x="1154429" y="1352549"/>
            <a:ext cx="1794329" cy="31364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Student management</a:t>
            </a:r>
            <a:endParaRPr lang="en-US" sz="1350" dirty="0"/>
          </a:p>
        </p:txBody>
      </p:sp>
      <p:sp>
        <p:nvSpPr>
          <p:cNvPr id="42" name="Text 4"/>
          <p:cNvSpPr/>
          <p:nvPr/>
        </p:nvSpPr>
        <p:spPr>
          <a:xfrm>
            <a:off x="792480" y="1752600"/>
            <a:ext cx="22402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Single front photo registration</a:t>
            </a:r>
            <a:endParaRPr lang="en-US" sz="1050" dirty="0"/>
          </a:p>
        </p:txBody>
      </p:sp>
      <p:sp>
        <p:nvSpPr>
          <p:cNvPr id="43" name="Text 5"/>
          <p:cNvSpPr/>
          <p:nvPr/>
        </p:nvSpPr>
        <p:spPr>
          <a:xfrm>
            <a:off x="792480" y="1981199"/>
            <a:ext cx="2164666" cy="39052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Information modification and replacement of photos</a:t>
            </a:r>
            <a:endParaRPr lang="en-US" sz="1050" dirty="0"/>
          </a:p>
        </p:txBody>
      </p:sp>
      <p:sp>
        <p:nvSpPr>
          <p:cNvPr id="44" name="Text 6"/>
          <p:cNvSpPr/>
          <p:nvPr/>
        </p:nvSpPr>
        <p:spPr>
          <a:xfrm>
            <a:off x="793023" y="2409825"/>
            <a:ext cx="22402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Delete students and history</a:t>
            </a:r>
            <a:endParaRPr lang="en-US" sz="1050" dirty="0"/>
          </a:p>
        </p:txBody>
      </p:sp>
      <p:sp>
        <p:nvSpPr>
          <p:cNvPr id="45" name="Text 7"/>
          <p:cNvSpPr/>
          <p:nvPr/>
        </p:nvSpPr>
        <p:spPr>
          <a:xfrm>
            <a:off x="9715499" y="1314450"/>
            <a:ext cx="1641929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Class management</a:t>
            </a:r>
            <a:endParaRPr lang="en-US" sz="1350" dirty="0"/>
          </a:p>
        </p:txBody>
      </p:sp>
      <p:sp>
        <p:nvSpPr>
          <p:cNvPr id="46" name="Text 8"/>
          <p:cNvSpPr/>
          <p:nvPr/>
        </p:nvSpPr>
        <p:spPr>
          <a:xfrm>
            <a:off x="9353550" y="1714500"/>
            <a:ext cx="22402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Create and delete classes</a:t>
            </a:r>
            <a:endParaRPr lang="en-US" sz="1050" dirty="0"/>
          </a:p>
        </p:txBody>
      </p:sp>
      <p:sp>
        <p:nvSpPr>
          <p:cNvPr id="47" name="Text 9"/>
          <p:cNvSpPr/>
          <p:nvPr/>
        </p:nvSpPr>
        <p:spPr>
          <a:xfrm>
            <a:off x="9353550" y="1943100"/>
            <a:ext cx="22402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Batch management of class students</a:t>
            </a:r>
            <a:endParaRPr lang="en-US" sz="1050" dirty="0"/>
          </a:p>
        </p:txBody>
      </p:sp>
      <p:sp>
        <p:nvSpPr>
          <p:cNvPr id="48" name="Text 10"/>
          <p:cNvSpPr/>
          <p:nvPr/>
        </p:nvSpPr>
        <p:spPr>
          <a:xfrm>
            <a:off x="9349014" y="2335439"/>
            <a:ext cx="22402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Student information export</a:t>
            </a:r>
            <a:endParaRPr lang="en-US" sz="1050" dirty="0"/>
          </a:p>
        </p:txBody>
      </p:sp>
      <p:sp>
        <p:nvSpPr>
          <p:cNvPr id="49" name="Text 11"/>
          <p:cNvSpPr/>
          <p:nvPr/>
        </p:nvSpPr>
        <p:spPr>
          <a:xfrm>
            <a:off x="1150034" y="5205413"/>
            <a:ext cx="1688416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Photo processing</a:t>
            </a:r>
            <a:endParaRPr lang="en-US" sz="1350" dirty="0"/>
          </a:p>
        </p:txBody>
      </p:sp>
      <p:sp>
        <p:nvSpPr>
          <p:cNvPr id="50" name="Text 12"/>
          <p:cNvSpPr/>
          <p:nvPr/>
        </p:nvSpPr>
        <p:spPr>
          <a:xfrm>
            <a:off x="815926" y="5505450"/>
            <a:ext cx="22402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Multiple classroom photos were uploaded</a:t>
            </a:r>
            <a:endParaRPr lang="en-US" sz="1050" dirty="0"/>
          </a:p>
        </p:txBody>
      </p:sp>
      <p:sp>
        <p:nvSpPr>
          <p:cNvPr id="51" name="Text 13"/>
          <p:cNvSpPr/>
          <p:nvPr/>
        </p:nvSpPr>
        <p:spPr>
          <a:xfrm>
            <a:off x="788084" y="5834063"/>
            <a:ext cx="22402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Image preprocessing and enhancement</a:t>
            </a:r>
            <a:endParaRPr lang="en-US" sz="1050" dirty="0"/>
          </a:p>
        </p:txBody>
      </p:sp>
      <p:sp>
        <p:nvSpPr>
          <p:cNvPr id="52" name="Text 14"/>
          <p:cNvSpPr/>
          <p:nvPr/>
        </p:nvSpPr>
        <p:spPr>
          <a:xfrm>
            <a:off x="788084" y="6217107"/>
            <a:ext cx="2240280" cy="436787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Large image auto-scaling processing</a:t>
            </a:r>
            <a:endParaRPr lang="en-US" sz="1050" dirty="0"/>
          </a:p>
        </p:txBody>
      </p:sp>
      <p:sp>
        <p:nvSpPr>
          <p:cNvPr id="53" name="Text 15"/>
          <p:cNvSpPr/>
          <p:nvPr/>
        </p:nvSpPr>
        <p:spPr>
          <a:xfrm>
            <a:off x="9715500" y="5238750"/>
            <a:ext cx="1641928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management</a:t>
            </a:r>
            <a:endParaRPr lang="en-US" sz="1350" dirty="0"/>
          </a:p>
        </p:txBody>
      </p:sp>
      <p:sp>
        <p:nvSpPr>
          <p:cNvPr id="54" name="Text 16"/>
          <p:cNvSpPr/>
          <p:nvPr/>
        </p:nvSpPr>
        <p:spPr>
          <a:xfrm>
            <a:off x="9353550" y="5638800"/>
            <a:ext cx="22402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Attendance record query</a:t>
            </a:r>
            <a:endParaRPr lang="en-US" sz="1050" dirty="0"/>
          </a:p>
        </p:txBody>
      </p:sp>
      <p:sp>
        <p:nvSpPr>
          <p:cNvPr id="55" name="Text 17"/>
          <p:cNvSpPr/>
          <p:nvPr/>
        </p:nvSpPr>
        <p:spPr>
          <a:xfrm>
            <a:off x="9353550" y="5867400"/>
            <a:ext cx="22402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Generate statistical and pivot reports</a:t>
            </a:r>
            <a:endParaRPr lang="en-US" sz="1050" dirty="0"/>
          </a:p>
        </p:txBody>
      </p:sp>
      <p:sp>
        <p:nvSpPr>
          <p:cNvPr id="56" name="Text 18"/>
          <p:cNvSpPr/>
          <p:nvPr/>
        </p:nvSpPr>
        <p:spPr>
          <a:xfrm>
            <a:off x="9349014" y="6245000"/>
            <a:ext cx="22402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Database backup and reset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314450"/>
            <a:ext cx="5562600" cy="2209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54305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1638300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19075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495550"/>
            <a:ext cx="17145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800350"/>
            <a:ext cx="1905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105150"/>
            <a:ext cx="1905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752850"/>
            <a:ext cx="5562600" cy="2209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981450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950" y="4076700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4629150"/>
            <a:ext cx="1905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4933950"/>
            <a:ext cx="1333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5238750"/>
            <a:ext cx="17145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5543550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48400" y="1314450"/>
            <a:ext cx="5562600" cy="5105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0" y="1543050"/>
            <a:ext cx="457200" cy="457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10350" y="1638300"/>
            <a:ext cx="190500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0" y="2266950"/>
            <a:ext cx="36701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84305" y="238125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7000" y="2933700"/>
            <a:ext cx="381000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91300" y="30480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0" y="3867150"/>
            <a:ext cx="2495550" cy="8001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91300" y="401955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086850" y="3867150"/>
            <a:ext cx="2495550" cy="762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201150" y="401955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0" y="4747077"/>
            <a:ext cx="2495550" cy="78468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91300" y="4899477"/>
            <a:ext cx="1905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086850" y="4747076"/>
            <a:ext cx="2495550" cy="784679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201150" y="4899477"/>
            <a:ext cx="123825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57950" y="5607957"/>
            <a:ext cx="5105400" cy="6858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477000" y="6004377"/>
            <a:ext cx="628650" cy="2667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181850" y="6004377"/>
            <a:ext cx="495300" cy="2667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53350" y="6004377"/>
            <a:ext cx="495300" cy="2667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24850" y="6004377"/>
            <a:ext cx="495300" cy="2667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896350" y="6004377"/>
            <a:ext cx="762000" cy="2667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734550" y="6004377"/>
            <a:ext cx="762000" cy="266700"/>
          </a:xfrm>
          <a:prstGeom prst="rect">
            <a:avLst/>
          </a:prstGeom>
        </p:spPr>
      </p:pic>
      <p:sp>
        <p:nvSpPr>
          <p:cNvPr id="41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7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Experimental environment and dataset</a:t>
            </a:r>
            <a:endParaRPr lang="en-US" sz="2700" dirty="0"/>
          </a:p>
        </p:txBody>
      </p:sp>
      <p:sp>
        <p:nvSpPr>
          <p:cNvPr id="42" name="Text 1"/>
          <p:cNvSpPr/>
          <p:nvPr/>
        </p:nvSpPr>
        <p:spPr>
          <a:xfrm>
            <a:off x="1219199" y="1638300"/>
            <a:ext cx="3766457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Experimental hardware environment</a:t>
            </a:r>
            <a:endParaRPr lang="en-US" sz="1500" dirty="0"/>
          </a:p>
        </p:txBody>
      </p:sp>
      <p:sp>
        <p:nvSpPr>
          <p:cNvPr id="43" name="Text 2"/>
          <p:cNvSpPr/>
          <p:nvPr/>
        </p:nvSpPr>
        <p:spPr>
          <a:xfrm>
            <a:off x="838199" y="2152650"/>
            <a:ext cx="4655457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Tencent Cloud Lightweight Application Server (4-core processor)</a:t>
            </a:r>
            <a:endParaRPr lang="en-US" sz="1200" dirty="0"/>
          </a:p>
        </p:txBody>
      </p:sp>
      <p:sp>
        <p:nvSpPr>
          <p:cNvPr id="44" name="Text 3"/>
          <p:cNvSpPr/>
          <p:nvPr/>
        </p:nvSpPr>
        <p:spPr>
          <a:xfrm>
            <a:off x="857250" y="2457450"/>
            <a:ext cx="2185095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4GB RAM, 40GB SSD</a:t>
            </a:r>
            <a:endParaRPr lang="en-US" sz="1200" dirty="0"/>
          </a:p>
        </p:txBody>
      </p:sp>
      <p:sp>
        <p:nvSpPr>
          <p:cNvPr id="45" name="Text 4"/>
          <p:cNvSpPr/>
          <p:nvPr/>
        </p:nvSpPr>
        <p:spPr>
          <a:xfrm>
            <a:off x="876300" y="2762250"/>
            <a:ext cx="2548533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Ubuntu 22.04 LTS, Python 3.10</a:t>
            </a:r>
            <a:endParaRPr lang="en-US" sz="1200" dirty="0"/>
          </a:p>
        </p:txBody>
      </p:sp>
      <p:sp>
        <p:nvSpPr>
          <p:cNvPr id="46" name="Text 5"/>
          <p:cNvSpPr/>
          <p:nvPr/>
        </p:nvSpPr>
        <p:spPr>
          <a:xfrm>
            <a:off x="876300" y="3067050"/>
            <a:ext cx="2907685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face_recognition 1.3.0, OpenCV 4.8</a:t>
            </a:r>
            <a:endParaRPr lang="en-US" sz="1200" dirty="0"/>
          </a:p>
        </p:txBody>
      </p:sp>
      <p:sp>
        <p:nvSpPr>
          <p:cNvPr id="47" name="Text 6"/>
          <p:cNvSpPr/>
          <p:nvPr/>
        </p:nvSpPr>
        <p:spPr>
          <a:xfrm>
            <a:off x="1219199" y="4076700"/>
            <a:ext cx="2205633" cy="36195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Dataset description</a:t>
            </a:r>
            <a:endParaRPr lang="en-US" sz="1500" dirty="0"/>
          </a:p>
        </p:txBody>
      </p:sp>
      <p:sp>
        <p:nvSpPr>
          <p:cNvPr id="48" name="Text 7"/>
          <p:cNvSpPr/>
          <p:nvPr/>
        </p:nvSpPr>
        <p:spPr>
          <a:xfrm>
            <a:off x="876300" y="4591050"/>
            <a:ext cx="383673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 university classroom with 55 registered students</a:t>
            </a:r>
            <a:endParaRPr lang="en-US" sz="1200" dirty="0"/>
          </a:p>
        </p:txBody>
      </p:sp>
      <p:sp>
        <p:nvSpPr>
          <p:cNvPr id="49" name="Text 8"/>
          <p:cNvSpPr/>
          <p:nvPr/>
        </p:nvSpPr>
        <p:spPr>
          <a:xfrm>
            <a:off x="819150" y="4895850"/>
            <a:ext cx="350139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 consecutive lessons tested</a:t>
            </a:r>
            <a:endParaRPr lang="en-US" sz="1200" dirty="0"/>
          </a:p>
        </p:txBody>
      </p:sp>
      <p:sp>
        <p:nvSpPr>
          <p:cNvPr id="50" name="Text 9"/>
          <p:cNvSpPr/>
          <p:nvPr/>
        </p:nvSpPr>
        <p:spPr>
          <a:xfrm>
            <a:off x="857249" y="5200650"/>
            <a:ext cx="4346121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Take multiple class photos from different angles in each class</a:t>
            </a:r>
            <a:endParaRPr lang="en-US" sz="1200" dirty="0"/>
          </a:p>
        </p:txBody>
      </p:sp>
      <p:sp>
        <p:nvSpPr>
          <p:cNvPr id="51" name="Text 10"/>
          <p:cNvSpPr/>
          <p:nvPr/>
        </p:nvSpPr>
        <p:spPr>
          <a:xfrm>
            <a:off x="876299" y="5505450"/>
            <a:ext cx="4486729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assessment covered 40 students who were actually present</a:t>
            </a:r>
            <a:endParaRPr lang="en-US" sz="1200" dirty="0"/>
          </a:p>
        </p:txBody>
      </p:sp>
      <p:sp>
        <p:nvSpPr>
          <p:cNvPr id="52" name="Text 11"/>
          <p:cNvSpPr/>
          <p:nvPr/>
        </p:nvSpPr>
        <p:spPr>
          <a:xfrm>
            <a:off x="7086599" y="1638300"/>
            <a:ext cx="3572589" cy="36195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Evaluation methods and indicators</a:t>
            </a:r>
            <a:endParaRPr lang="en-US" sz="1500" dirty="0"/>
          </a:p>
        </p:txBody>
      </p:sp>
      <p:sp>
        <p:nvSpPr>
          <p:cNvPr id="53" name="Text 12"/>
          <p:cNvSpPr/>
          <p:nvPr/>
        </p:nvSpPr>
        <p:spPr>
          <a:xfrm>
            <a:off x="6958310" y="2152650"/>
            <a:ext cx="462409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Assessment tools</a:t>
            </a:r>
            <a:endParaRPr lang="en-US" sz="1200" dirty="0"/>
          </a:p>
        </p:txBody>
      </p:sp>
      <p:sp>
        <p:nvSpPr>
          <p:cNvPr id="54" name="Text 13"/>
          <p:cNvSpPr/>
          <p:nvPr/>
        </p:nvSpPr>
        <p:spPr>
          <a:xfrm>
            <a:off x="6958310" y="2381250"/>
            <a:ext cx="462409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Independently developed automated accuracy evaluation tool with the same face detection and recognition logic as the main attendance system</a:t>
            </a:r>
            <a:endParaRPr lang="en-US" sz="1050" dirty="0"/>
          </a:p>
        </p:txBody>
      </p:sp>
      <p:sp>
        <p:nvSpPr>
          <p:cNvPr id="55" name="Text 14"/>
          <p:cNvSpPr/>
          <p:nvPr/>
        </p:nvSpPr>
        <p:spPr>
          <a:xfrm>
            <a:off x="6972300" y="2914650"/>
            <a:ext cx="3719066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Evaluation process</a:t>
            </a:r>
            <a:endParaRPr lang="en-US" sz="1200" dirty="0"/>
          </a:p>
        </p:txBody>
      </p:sp>
      <p:sp>
        <p:nvSpPr>
          <p:cNvPr id="56" name="Text 15"/>
          <p:cNvSpPr/>
          <p:nvPr/>
        </p:nvSpPr>
        <p:spPr>
          <a:xfrm>
            <a:off x="6972300" y="3143250"/>
            <a:ext cx="4462879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Pre-process and identify each photo, output TP, FP, FN, and calculate various indicators</a:t>
            </a:r>
            <a:endParaRPr lang="en-US" sz="1050" dirty="0"/>
          </a:p>
        </p:txBody>
      </p:sp>
      <p:sp>
        <p:nvSpPr>
          <p:cNvPr id="57" name="Text 16"/>
          <p:cNvSpPr/>
          <p:nvPr/>
        </p:nvSpPr>
        <p:spPr>
          <a:xfrm>
            <a:off x="6477000" y="3562350"/>
            <a:ext cx="5105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Core evaluation indicators：</a:t>
            </a:r>
            <a:endParaRPr lang="en-US" sz="1200" dirty="0"/>
          </a:p>
        </p:txBody>
      </p:sp>
      <p:sp>
        <p:nvSpPr>
          <p:cNvPr id="58" name="Text 17"/>
          <p:cNvSpPr/>
          <p:nvPr/>
        </p:nvSpPr>
        <p:spPr>
          <a:xfrm>
            <a:off x="6819900" y="3981450"/>
            <a:ext cx="147339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59" name="Text 18"/>
          <p:cNvSpPr/>
          <p:nvPr/>
        </p:nvSpPr>
        <p:spPr>
          <a:xfrm>
            <a:off x="6591300" y="4248150"/>
            <a:ext cx="22669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percentage of students who are actually present is identified</a:t>
            </a:r>
            <a:endParaRPr lang="en-US" sz="1050" dirty="0"/>
          </a:p>
        </p:txBody>
      </p:sp>
      <p:sp>
        <p:nvSpPr>
          <p:cNvPr id="60" name="Text 19"/>
          <p:cNvSpPr/>
          <p:nvPr/>
        </p:nvSpPr>
        <p:spPr>
          <a:xfrm>
            <a:off x="9429750" y="3981450"/>
            <a:ext cx="1229439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</a:t>
            </a:r>
            <a:endParaRPr lang="en-US" sz="1200" dirty="0"/>
          </a:p>
        </p:txBody>
      </p:sp>
      <p:sp>
        <p:nvSpPr>
          <p:cNvPr id="61" name="Text 20"/>
          <p:cNvSpPr/>
          <p:nvPr/>
        </p:nvSpPr>
        <p:spPr>
          <a:xfrm>
            <a:off x="9201150" y="4248150"/>
            <a:ext cx="2495550" cy="156027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percentage of students who are actually present</a:t>
            </a:r>
            <a:endParaRPr lang="en-US" sz="1050" dirty="0"/>
          </a:p>
        </p:txBody>
      </p:sp>
      <p:sp>
        <p:nvSpPr>
          <p:cNvPr id="62" name="Text 21"/>
          <p:cNvSpPr/>
          <p:nvPr/>
        </p:nvSpPr>
        <p:spPr>
          <a:xfrm>
            <a:off x="6858000" y="4861377"/>
            <a:ext cx="8953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F1 score</a:t>
            </a:r>
            <a:endParaRPr lang="en-US" sz="1200" dirty="0"/>
          </a:p>
        </p:txBody>
      </p:sp>
      <p:sp>
        <p:nvSpPr>
          <p:cNvPr id="63" name="Text 22"/>
          <p:cNvSpPr/>
          <p:nvPr/>
        </p:nvSpPr>
        <p:spPr>
          <a:xfrm>
            <a:off x="6591300" y="5128077"/>
            <a:ext cx="2266950" cy="148773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harmonized average of accuracy and recall</a:t>
            </a:r>
            <a:endParaRPr lang="en-US" sz="1050" dirty="0"/>
          </a:p>
        </p:txBody>
      </p:sp>
      <p:sp>
        <p:nvSpPr>
          <p:cNvPr id="64" name="Text 23"/>
          <p:cNvSpPr/>
          <p:nvPr/>
        </p:nvSpPr>
        <p:spPr>
          <a:xfrm>
            <a:off x="9401175" y="4861377"/>
            <a:ext cx="147339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Accuracy</a:t>
            </a:r>
            <a:endParaRPr lang="en-US" sz="1200" dirty="0"/>
          </a:p>
        </p:txBody>
      </p:sp>
      <p:sp>
        <p:nvSpPr>
          <p:cNvPr id="65" name="Text 24"/>
          <p:cNvSpPr/>
          <p:nvPr/>
        </p:nvSpPr>
        <p:spPr>
          <a:xfrm>
            <a:off x="9201150" y="5128077"/>
            <a:ext cx="2495550" cy="148773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6B72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proportion of students correctly identified as the actual students present</a:t>
            </a:r>
            <a:endParaRPr lang="en-US" sz="1050" dirty="0"/>
          </a:p>
        </p:txBody>
      </p:sp>
      <p:sp>
        <p:nvSpPr>
          <p:cNvPr id="66" name="Text 25"/>
          <p:cNvSpPr/>
          <p:nvPr/>
        </p:nvSpPr>
        <p:spPr>
          <a:xfrm>
            <a:off x="6477000" y="5705928"/>
            <a:ext cx="5105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 classroom scenario test coverage:</a:t>
            </a:r>
            <a:endParaRPr lang="en-US" sz="1200" dirty="0"/>
          </a:p>
        </p:txBody>
      </p:sp>
      <p:sp>
        <p:nvSpPr>
          <p:cNvPr id="67" name="Text 26"/>
          <p:cNvSpPr/>
          <p:nvPr/>
        </p:nvSpPr>
        <p:spPr>
          <a:xfrm>
            <a:off x="6591300" y="6004377"/>
            <a:ext cx="7543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1D4E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Front</a:t>
            </a:r>
            <a:endParaRPr lang="en-US" sz="1050" dirty="0"/>
          </a:p>
        </p:txBody>
      </p:sp>
      <p:sp>
        <p:nvSpPr>
          <p:cNvPr id="68" name="Text 27"/>
          <p:cNvSpPr/>
          <p:nvPr/>
        </p:nvSpPr>
        <p:spPr>
          <a:xfrm>
            <a:off x="7296150" y="6004377"/>
            <a:ext cx="59436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1D4E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Side </a:t>
            </a:r>
            <a:endParaRPr lang="en-US" sz="1050" dirty="0"/>
          </a:p>
        </p:txBody>
      </p:sp>
      <p:sp>
        <p:nvSpPr>
          <p:cNvPr id="69" name="Text 28"/>
          <p:cNvSpPr/>
          <p:nvPr/>
        </p:nvSpPr>
        <p:spPr>
          <a:xfrm>
            <a:off x="7808504" y="6004377"/>
            <a:ext cx="59436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1D4E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Submit</a:t>
            </a:r>
            <a:endParaRPr lang="en-US" sz="1050" dirty="0"/>
          </a:p>
        </p:txBody>
      </p:sp>
      <p:sp>
        <p:nvSpPr>
          <p:cNvPr id="70" name="Text 29"/>
          <p:cNvSpPr/>
          <p:nvPr/>
        </p:nvSpPr>
        <p:spPr>
          <a:xfrm>
            <a:off x="8324850" y="6004377"/>
            <a:ext cx="59436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1D4E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Backlight</a:t>
            </a:r>
            <a:endParaRPr lang="en-US" sz="1050" dirty="0"/>
          </a:p>
        </p:txBody>
      </p:sp>
      <p:sp>
        <p:nvSpPr>
          <p:cNvPr id="71" name="Text 30"/>
          <p:cNvSpPr/>
          <p:nvPr/>
        </p:nvSpPr>
        <p:spPr>
          <a:xfrm>
            <a:off x="9023985" y="5939063"/>
            <a:ext cx="5905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algn="ctr">
              <a:lnSpc>
                <a:spcPts val="1500"/>
              </a:lnSpc>
            </a:pPr>
            <a:r>
              <a:rPr lang="en-US" sz="1050" dirty="0">
                <a:solidFill>
                  <a:srgbClr val="1D4E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Partial occlusion</a:t>
            </a:r>
            <a:endParaRPr lang="en-US" sz="1050" dirty="0"/>
          </a:p>
        </p:txBody>
      </p:sp>
      <p:sp>
        <p:nvSpPr>
          <p:cNvPr id="72" name="Text 31"/>
          <p:cNvSpPr/>
          <p:nvPr/>
        </p:nvSpPr>
        <p:spPr>
          <a:xfrm>
            <a:off x="9848850" y="6004377"/>
            <a:ext cx="472349" cy="263073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1D4ED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Crowds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81001" y="1219919"/>
            <a:ext cx="5549660" cy="507377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32603" y="1448519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61191" y="1524719"/>
            <a:ext cx="20002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159260" y="1219919"/>
            <a:ext cx="5651740" cy="507377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385703" y="1448519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500003" y="1524719"/>
            <a:ext cx="228600" cy="3048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7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Experimental results and performance</a:t>
            </a:r>
            <a:endParaRPr lang="en-US" sz="2700" dirty="0"/>
          </a:p>
        </p:txBody>
      </p:sp>
      <p:sp>
        <p:nvSpPr>
          <p:cNvPr id="36" name="Text 6"/>
          <p:cNvSpPr/>
          <p:nvPr>
            <p:custDataLst>
              <p:tags r:id="rId14"/>
            </p:custDataLst>
          </p:nvPr>
        </p:nvSpPr>
        <p:spPr>
          <a:xfrm>
            <a:off x="7025005" y="5179695"/>
            <a:ext cx="492887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This test enables smart attendance by uploading class photos, automatically completing face detection, feature comparison, and attendance statistics. efficiency and accuracy.</a:t>
            </a:r>
            <a:endParaRPr lang="en-US" sz="1500" b="1" dirty="0">
              <a:solidFill>
                <a:srgbClr val="1F2937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54" name="Text 6"/>
          <p:cNvSpPr/>
          <p:nvPr>
            <p:custDataLst>
              <p:tags r:id="rId15"/>
            </p:custDataLst>
          </p:nvPr>
        </p:nvSpPr>
        <p:spPr>
          <a:xfrm>
            <a:off x="1750060" y="5480685"/>
            <a:ext cx="32054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algn="l">
              <a:lnSpc>
                <a:spcPts val="2100"/>
              </a:lnSpc>
              <a:buClrTx/>
              <a:buSzTx/>
              <a:buFontTx/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Attendance check-in feature</a:t>
            </a:r>
            <a:endParaRPr lang="en-US" sz="1500" b="1" dirty="0">
              <a:solidFill>
                <a:srgbClr val="1F2937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pic>
        <p:nvPicPr>
          <p:cNvPr id="7" name="图片 27" descr="IMG_25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9660" y="1448435"/>
            <a:ext cx="4526915" cy="37312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" name="图片 28" descr="IMG_25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44995" y="1448435"/>
            <a:ext cx="4826635" cy="3575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81001" y="1219919"/>
            <a:ext cx="5549660" cy="507377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32603" y="1448519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61191" y="1524719"/>
            <a:ext cx="20002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159260" y="1219919"/>
            <a:ext cx="5651740" cy="507377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385703" y="1448519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500003" y="1524719"/>
            <a:ext cx="228600" cy="3048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7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Experimental results and performance</a:t>
            </a:r>
            <a:endParaRPr lang="en-US" sz="2700" dirty="0"/>
          </a:p>
        </p:txBody>
      </p:sp>
      <p:sp>
        <p:nvSpPr>
          <p:cNvPr id="36" name="Text 6"/>
          <p:cNvSpPr/>
          <p:nvPr>
            <p:custDataLst>
              <p:tags r:id="rId14"/>
            </p:custDataLst>
          </p:nvPr>
        </p:nvSpPr>
        <p:spPr>
          <a:xfrm>
            <a:off x="6995303" y="1543769"/>
            <a:ext cx="224304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Identify performance</a:t>
            </a:r>
            <a:endParaRPr lang="en-US" sz="1500" dirty="0"/>
          </a:p>
        </p:txBody>
      </p:sp>
      <p:pic>
        <p:nvPicPr>
          <p:cNvPr id="51" name="图片 50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16" y="2173138"/>
            <a:ext cx="4329652" cy="3712801"/>
          </a:xfrm>
          <a:prstGeom prst="rect">
            <a:avLst/>
          </a:prstGeom>
        </p:spPr>
      </p:pic>
      <p:sp>
        <p:nvSpPr>
          <p:cNvPr id="54" name="Text 6"/>
          <p:cNvSpPr/>
          <p:nvPr>
            <p:custDataLst>
              <p:tags r:id="rId17"/>
            </p:custDataLst>
          </p:nvPr>
        </p:nvSpPr>
        <p:spPr>
          <a:xfrm>
            <a:off x="1187658" y="1562819"/>
            <a:ext cx="2215941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altLang="zh-CN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Attendance results</a:t>
            </a:r>
            <a:endParaRPr lang="en-US" sz="1500" dirty="0"/>
          </a:p>
        </p:txBody>
      </p:sp>
      <p:pic>
        <p:nvPicPr>
          <p:cNvPr id="56" name="图片 5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6728713" y="2172872"/>
            <a:ext cx="4568714" cy="2564614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728460" y="4867910"/>
            <a:ext cx="465709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This feature summarizes the total attendance of each class, displays each student's attendance in a table, and allows to export the table.</a:t>
            </a:r>
            <a:endParaRPr lang="en-US" sz="1500" b="1" dirty="0">
              <a:solidFill>
                <a:srgbClr val="1F2937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447800"/>
            <a:ext cx="5638800" cy="4152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714500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1336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22885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04800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314325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73380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" y="3829050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648200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950" y="4743450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1447800"/>
            <a:ext cx="5562600" cy="415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1714500"/>
            <a:ext cx="22860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83350" y="2343150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3505200"/>
            <a:ext cx="457200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9400" y="3616326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81762" y="4591050"/>
            <a:ext cx="457200" cy="457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38925" y="4686300"/>
            <a:ext cx="142875" cy="2667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7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advantages and limitations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952500" y="1676400"/>
            <a:ext cx="5105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b="1" dirty="0">
                <a:solidFill>
                  <a:srgbClr val="16A3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advantages:</a:t>
            </a:r>
            <a:endParaRPr lang="en-US" sz="1800" dirty="0"/>
          </a:p>
        </p:txBody>
      </p:sp>
      <p:sp>
        <p:nvSpPr>
          <p:cNvPr id="24" name="Text 2"/>
          <p:cNvSpPr/>
          <p:nvPr/>
        </p:nvSpPr>
        <p:spPr>
          <a:xfrm>
            <a:off x="1219200" y="2133600"/>
            <a:ext cx="4495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Truly realize "non-sensory attendance"</a:t>
            </a:r>
            <a:endParaRPr lang="en-US" sz="1350" dirty="0"/>
          </a:p>
        </p:txBody>
      </p:sp>
      <p:sp>
        <p:nvSpPr>
          <p:cNvPr id="25" name="Text 3"/>
          <p:cNvSpPr/>
          <p:nvPr/>
        </p:nvSpPr>
        <p:spPr>
          <a:xfrm>
            <a:off x="1219200" y="2400300"/>
            <a:ext cx="4495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Students do not need any cooperation, and teachers do not need to interrupt lectures, completely getting rid of the interference of traditional attendance on the teaching rhythm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1219200" y="3048000"/>
            <a:ext cx="4419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Zero hardware cost deployment</a:t>
            </a:r>
            <a:endParaRPr lang="en-US" sz="1350" dirty="0"/>
          </a:p>
        </p:txBody>
      </p:sp>
      <p:sp>
        <p:nvSpPr>
          <p:cNvPr id="27" name="Text 5"/>
          <p:cNvSpPr/>
          <p:nvPr/>
        </p:nvSpPr>
        <p:spPr>
          <a:xfrm>
            <a:off x="1219200" y="3314700"/>
            <a:ext cx="4572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 can run on a regular laptop or an existing school computer with no additional hardware investment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1219200" y="3733800"/>
            <a:ext cx="4495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High robustness</a:t>
            </a:r>
            <a:endParaRPr lang="en-US" sz="1350" dirty="0"/>
          </a:p>
        </p:txBody>
      </p:sp>
      <p:sp>
        <p:nvSpPr>
          <p:cNvPr id="29" name="Text 7"/>
          <p:cNvSpPr/>
          <p:nvPr/>
        </p:nvSpPr>
        <p:spPr>
          <a:xfrm>
            <a:off x="1219200" y="3949700"/>
            <a:ext cx="473964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number of optimizations were carried out for the complex classroom environment (side face, head down, uneven lighting, partial occlusion), and the actual accuracy rate reached more than 90%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1219200" y="4648200"/>
            <a:ext cx="4495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Complete closed-loop management</a:t>
            </a:r>
            <a:endParaRPr lang="en-US" sz="1350" dirty="0"/>
          </a:p>
        </p:txBody>
      </p:sp>
      <p:sp>
        <p:nvSpPr>
          <p:cNvPr id="31" name="Text 9"/>
          <p:cNvSpPr/>
          <p:nvPr/>
        </p:nvSpPr>
        <p:spPr>
          <a:xfrm>
            <a:off x="1219200" y="4914900"/>
            <a:ext cx="48387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 class creation→ student registration→ daily attendance → report viewing→ data export, all teaching needs are solved in one stop</a:t>
            </a:r>
            <a:endParaRPr lang="en-US" sz="1200" dirty="0"/>
          </a:p>
        </p:txBody>
      </p:sp>
      <p:sp>
        <p:nvSpPr>
          <p:cNvPr id="32" name="Text 10"/>
          <p:cNvSpPr/>
          <p:nvPr/>
        </p:nvSpPr>
        <p:spPr>
          <a:xfrm>
            <a:off x="6819900" y="1676400"/>
            <a:ext cx="5105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b="1" dirty="0">
                <a:solidFill>
                  <a:srgbClr val="EA580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limitations</a:t>
            </a:r>
            <a:endParaRPr lang="en-US" sz="1800" dirty="0"/>
          </a:p>
        </p:txBody>
      </p:sp>
      <p:sp>
        <p:nvSpPr>
          <p:cNvPr id="33" name="Text 11"/>
          <p:cNvSpPr/>
          <p:nvPr/>
        </p:nvSpPr>
        <p:spPr>
          <a:xfrm>
            <a:off x="7131050" y="2074636"/>
            <a:ext cx="49149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Extremely similar faces have limited ability to distinguish between them</a:t>
            </a:r>
            <a:endParaRPr lang="en-US" sz="1350" dirty="0"/>
          </a:p>
        </p:txBody>
      </p:sp>
      <p:sp>
        <p:nvSpPr>
          <p:cNvPr id="34" name="Text 12"/>
          <p:cNvSpPr/>
          <p:nvPr/>
        </p:nvSpPr>
        <p:spPr>
          <a:xfrm>
            <a:off x="7124700" y="2627086"/>
            <a:ext cx="4597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Occasional misidentification of identical twins or two students who are extremely similar (misidentification rate 1.8%) is not suitable for classes with many twins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7124700" y="3390900"/>
            <a:ext cx="4495800" cy="21953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recognition rate of wearing a mask or bowing your head significantly decreased</a:t>
            </a:r>
            <a:endParaRPr lang="en-US" sz="1350" dirty="0"/>
          </a:p>
        </p:txBody>
      </p:sp>
      <p:sp>
        <p:nvSpPr>
          <p:cNvPr id="36" name="Text 14"/>
          <p:cNvSpPr/>
          <p:nvPr/>
        </p:nvSpPr>
        <p:spPr>
          <a:xfrm>
            <a:off x="7124700" y="3910694"/>
            <a:ext cx="4495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When students wear masks or their heads hang down more than 60°, the detection rate drops significantly</a:t>
            </a:r>
            <a:endParaRPr lang="en-US" sz="1200" dirty="0"/>
          </a:p>
        </p:txBody>
      </p:sp>
      <p:sp>
        <p:nvSpPr>
          <p:cNvPr id="37" name="Text 15"/>
          <p:cNvSpPr/>
          <p:nvPr/>
        </p:nvSpPr>
        <p:spPr>
          <a:xfrm>
            <a:off x="7131050" y="4406900"/>
            <a:ext cx="4495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 extreme cases of lighting, it may still fail</a:t>
            </a:r>
            <a:endParaRPr lang="en-US" sz="1350" dirty="0"/>
          </a:p>
        </p:txBody>
      </p:sp>
      <p:sp>
        <p:nvSpPr>
          <p:cNvPr id="38" name="Text 16"/>
          <p:cNvSpPr/>
          <p:nvPr/>
        </p:nvSpPr>
        <p:spPr>
          <a:xfrm>
            <a:off x="7124700" y="4679950"/>
            <a:ext cx="46863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 extremely strong backlighting (window background) or extremely dark environment (suddenly turning off the lights), the image enhancement strategy is difficult to completely salvage, and individual photos will miss all inspections</a:t>
            </a:r>
            <a:endParaRPr lang="en-US" sz="1200" dirty="0"/>
          </a:p>
        </p:txBody>
      </p:sp>
      <p:sp>
        <p:nvSpPr>
          <p:cNvPr id="39" name="Text 17"/>
          <p:cNvSpPr/>
          <p:nvPr/>
        </p:nvSpPr>
        <p:spPr>
          <a:xfrm>
            <a:off x="2676000" y="5905500"/>
            <a:ext cx="6840000" cy="49167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algn="ctr"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These limitations are not system design flaws, but common problems of current static face recognition technology in complex classroom scenarios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562100"/>
            <a:ext cx="5600700" cy="1409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526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1866900"/>
            <a:ext cx="2857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1562100"/>
            <a:ext cx="5600700" cy="1409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1752600"/>
            <a:ext cx="571500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675" y="1866900"/>
            <a:ext cx="28575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3200400"/>
            <a:ext cx="5600700" cy="1181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90900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75" y="3505200"/>
            <a:ext cx="2857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3200400"/>
            <a:ext cx="5600700" cy="1181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390900"/>
            <a:ext cx="57150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4625" y="3505200"/>
            <a:ext cx="32385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4610100"/>
            <a:ext cx="11430000" cy="952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4800600"/>
            <a:ext cx="571500" cy="571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375" y="4914900"/>
            <a:ext cx="285750" cy="3429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7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Future improvement direction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381000" y="1104900"/>
            <a:ext cx="13716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3741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 response to the current limitations of the system, we propose the following five key improvements to further improve the performance and usability of the system:</a:t>
            </a:r>
            <a:endParaRPr lang="en-US" sz="1200" dirty="0"/>
          </a:p>
        </p:txBody>
      </p:sp>
      <p:sp>
        <p:nvSpPr>
          <p:cNvPr id="22" name="Text 2"/>
          <p:cNvSpPr/>
          <p:nvPr/>
        </p:nvSpPr>
        <p:spPr>
          <a:xfrm>
            <a:off x="1295400" y="1752600"/>
            <a:ext cx="4495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Introduce advanced models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1285875" y="2024743"/>
            <a:ext cx="44958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Upgrading </a:t>
            </a:r>
            <a:r>
              <a:rPr lang="en-US" sz="1200" dirty="0" err="1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face_recognition</a:t>
            </a: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(2018 technology) to </a:t>
            </a:r>
            <a:r>
              <a:rPr lang="en-US" sz="1200" dirty="0" err="1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InsightFace</a:t>
            </a: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(2023-2025 mainstream) or </a:t>
            </a:r>
            <a:r>
              <a:rPr lang="en-US" sz="1200" dirty="0" err="1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RetinaFace+ArcFace</a:t>
            </a: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combination, the feature dimension is increased to more than 512 dimensions, and the comprehensive accuracy is expected to increase to 98%-99%.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7124700" y="1752600"/>
            <a:ext cx="4495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Increase in liveness testing</a:t>
            </a:r>
            <a:endParaRPr lang="en-US" sz="1500" dirty="0"/>
          </a:p>
        </p:txBody>
      </p:sp>
      <p:sp>
        <p:nvSpPr>
          <p:cNvPr id="25" name="Text 5"/>
          <p:cNvSpPr/>
          <p:nvPr/>
        </p:nvSpPr>
        <p:spPr>
          <a:xfrm>
            <a:off x="7124700" y="2095500"/>
            <a:ext cx="4495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Integrated single-frame-based Silent-Live or multi-frame optical flow liveness detection algorithms completely eliminate the risk of photo/video spoofing and improve system security.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1295400" y="3390900"/>
            <a:ext cx="4495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Support mask face recognition</a:t>
            </a:r>
            <a:endParaRPr lang="en-US" sz="1500" dirty="0"/>
          </a:p>
        </p:txBody>
      </p:sp>
      <p:sp>
        <p:nvSpPr>
          <p:cNvPr id="27" name="Text 7"/>
          <p:cNvSpPr/>
          <p:nvPr/>
        </p:nvSpPr>
        <p:spPr>
          <a:xfrm>
            <a:off x="1295400" y="3680279"/>
            <a:ext cx="4495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 or call a special mask face model to recognize only the eye and forehead areas to solve the recognition problem in the mask wearing scenario.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7124700" y="3390900"/>
            <a:ext cx="4495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Automatic report export</a:t>
            </a:r>
            <a:endParaRPr lang="en-US" sz="1500" dirty="0"/>
          </a:p>
        </p:txBody>
      </p:sp>
      <p:sp>
        <p:nvSpPr>
          <p:cNvPr id="29" name="Text 9"/>
          <p:cNvSpPr/>
          <p:nvPr/>
        </p:nvSpPr>
        <p:spPr>
          <a:xfrm>
            <a:off x="7124700" y="3680279"/>
            <a:ext cx="4495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 supports one-click export of PDF/Excel monthly attendance sheets to meet the archiving needs of the Academic Affairs Office and improve the practicability of the system.</a:t>
            </a:r>
            <a:endParaRPr lang="en-US" sz="1200" dirty="0"/>
          </a:p>
        </p:txBody>
      </p:sp>
      <p:sp>
        <p:nvSpPr>
          <p:cNvPr id="30" name="Text 10"/>
          <p:cNvSpPr/>
          <p:nvPr/>
        </p:nvSpPr>
        <p:spPr>
          <a:xfrm>
            <a:off x="1295400" y="4800600"/>
            <a:ext cx="6129933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500" b="1" dirty="0">
                <a:solidFill>
                  <a:srgbClr val="1F29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Photo metainformation utilization</a:t>
            </a:r>
            <a:endParaRPr lang="en-US" sz="1500" dirty="0"/>
          </a:p>
        </p:txBody>
      </p:sp>
      <p:sp>
        <p:nvSpPr>
          <p:cNvPr id="31" name="Text 11"/>
          <p:cNvSpPr/>
          <p:nvPr/>
        </p:nvSpPr>
        <p:spPr>
          <a:xfrm>
            <a:off x="1295400" y="5067300"/>
            <a:ext cx="7355919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4B556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Automatically read the shooting time in the photo EXIF, and automatically select the session compared with the class schedule, further improving the intelligence level of the system.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-109855"/>
            <a:ext cx="12192000" cy="6443980"/>
          </a:xfrm>
          <a:prstGeom prst="rect">
            <a:avLst/>
          </a:prstGeom>
          <a:solidFill>
            <a:srgbClr val="182F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5377" y="968700"/>
            <a:ext cx="4226084" cy="422608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6129338"/>
            <a:ext cx="12192000" cy="7286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2"/>
          <p:cNvSpPr txBox="1"/>
          <p:nvPr>
            <p:custDataLst>
              <p:tags r:id="rId2"/>
            </p:custDataLst>
          </p:nvPr>
        </p:nvSpPr>
        <p:spPr>
          <a:xfrm>
            <a:off x="4776470" y="325120"/>
            <a:ext cx="2153285" cy="398780"/>
          </a:xfrm>
          <a:prstGeom prst="rect">
            <a:avLst/>
          </a:prstGeom>
        </p:spPr>
        <p:txBody>
          <a:bodyPr wrap="square" anchor="ctr" anchorCtr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5400" b="1" i="0" u="none" strike="noStrike" cap="none" spc="0" normalizeH="0" baseline="0">
                <a:ln>
                  <a:noFill/>
                </a:ln>
                <a:gradFill>
                  <a:gsLst>
                    <a:gs pos="0">
                      <a:srgbClr val="CDA23D"/>
                    </a:gs>
                    <a:gs pos="55000">
                      <a:srgbClr val="E1B64A"/>
                    </a:gs>
                    <a:gs pos="100000">
                      <a:srgbClr val="F7E880">
                        <a:lumMod val="99000"/>
                      </a:srgbClr>
                    </a:gs>
                  </a:gsLst>
                  <a:lin ang="2700000" scaled="1"/>
                </a:gra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 w="12700">
                  <a:noFill/>
                </a:ln>
                <a:solidFill>
                  <a:srgbClr val="182F7B"/>
                </a:solidFill>
                <a:effectLst/>
                <a:uLnTx/>
                <a:uFillTx/>
                <a:latin typeface="汉仪新人文宋 75W" panose="00020600040101010101" pitchFamily="18" charset="-122"/>
                <a:ea typeface="汉仪新人文宋 75W" panose="00020600040101010101" pitchFamily="18" charset="-122"/>
                <a:cs typeface="+mn-ea"/>
                <a:sym typeface="+mn-lt"/>
              </a:rPr>
              <a:t>校长奖学金答辩</a:t>
            </a:r>
            <a:endParaRPr kumimoji="0" lang="zh-CN" altLang="en-US" sz="2000" b="0" i="0" u="none" strike="noStrike" kern="1200" cap="none" spc="0" normalizeH="0" baseline="0" noProof="0" dirty="0">
              <a:ln w="12700">
                <a:noFill/>
              </a:ln>
              <a:solidFill>
                <a:srgbClr val="182F7B"/>
              </a:solidFill>
              <a:effectLst/>
              <a:uLnTx/>
              <a:uFillTx/>
              <a:latin typeface="汉仪新人文宋 75W" panose="00020600040101010101" pitchFamily="18" charset="-122"/>
              <a:ea typeface="汉仪新人文宋 75W" panose="00020600040101010101" pitchFamily="18" charset="-122"/>
              <a:cs typeface="+mn-ea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39800" y="-370205"/>
            <a:ext cx="11381740" cy="7040880"/>
            <a:chOff x="1480" y="-583"/>
            <a:chExt cx="17924" cy="11088"/>
          </a:xfrm>
        </p:grpSpPr>
        <p:sp>
          <p:nvSpPr>
            <p:cNvPr id="13" name="矩形 12"/>
            <p:cNvSpPr/>
            <p:nvPr/>
          </p:nvSpPr>
          <p:spPr>
            <a:xfrm>
              <a:off x="1480" y="9974"/>
              <a:ext cx="16656" cy="5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zh-CN" altLang="en-US" sz="1600" dirty="0">
                  <a:solidFill>
                    <a:srgbClr val="182F7B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+mn-lt"/>
                </a:rPr>
                <a:t>ＳＯＵＴＨ</a:t>
              </a:r>
              <a:r>
                <a:rPr lang="en-US" altLang="zh-CN" sz="1600" dirty="0">
                  <a:solidFill>
                    <a:srgbClr val="182F7B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+mn-lt"/>
                </a:rPr>
                <a:t>E</a:t>
              </a:r>
              <a:r>
                <a:rPr lang="zh-CN" altLang="en-US" sz="1600" dirty="0">
                  <a:solidFill>
                    <a:srgbClr val="182F7B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+mn-lt"/>
                </a:rPr>
                <a:t>ＡＳＴ　Ｕ</a:t>
              </a:r>
              <a:r>
                <a:rPr lang="en-US" altLang="zh-CN" sz="1600" dirty="0">
                  <a:solidFill>
                    <a:srgbClr val="182F7B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+mn-lt"/>
                </a:rPr>
                <a:t>N</a:t>
              </a:r>
              <a:r>
                <a:rPr lang="zh-CN" altLang="en-US" sz="1600" dirty="0">
                  <a:solidFill>
                    <a:srgbClr val="182F7B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+mn-lt"/>
                </a:rPr>
                <a:t>ＩＶＥＲＳＩＴＹ</a:t>
              </a:r>
              <a:endParaRPr lang="zh-CN" altLang="en-US" sz="1600" dirty="0">
                <a:solidFill>
                  <a:srgbClr val="182F7B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 rot="5400000">
              <a:off x="12970" y="3802"/>
              <a:ext cx="10819" cy="2049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lvl="0" algn="ctr"/>
              <a:r>
                <a:rPr lang="en-US" altLang="zh-CN" sz="8000" dirty="0">
                  <a:solidFill>
                    <a:schemeClr val="bg1">
                      <a:alpha val="15000"/>
                    </a:schemeClr>
                  </a:solidFill>
                  <a:latin typeface="汉仪雅酷黑 65W" panose="020B0604020202020204" pitchFamily="34" charset="-122"/>
                  <a:ea typeface="汉仪雅酷黑 65W" panose="020B0604020202020204" pitchFamily="34" charset="-122"/>
                  <a:cs typeface="Arial" panose="020B0604020202020204" pitchFamily="34" charset="0"/>
                  <a:sym typeface="+mn-lt"/>
                </a:rPr>
                <a:t>SOUTHEAST</a:t>
              </a:r>
              <a:endParaRPr lang="en-US" altLang="zh-CN" sz="8000" dirty="0">
                <a:solidFill>
                  <a:schemeClr val="bg1">
                    <a:alpha val="15000"/>
                  </a:schemeClr>
                </a:solidFill>
                <a:latin typeface="汉仪雅酷黑 65W" panose="020B0604020202020204" pitchFamily="34" charset="-122"/>
                <a:ea typeface="汉仪雅酷黑 65W" panose="020B0604020202020204" pitchFamily="34" charset="-122"/>
                <a:cs typeface="Arial" panose="020B0604020202020204" pitchFamily="34" charset="0"/>
                <a:sym typeface="+mn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781050" y="2656690"/>
            <a:ext cx="89331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noProof="0" dirty="0">
                <a:ln w="12700">
                  <a:noFill/>
                </a:ln>
                <a:gradFill>
                  <a:gsLst>
                    <a:gs pos="9000">
                      <a:srgbClr val="D8AD80"/>
                    </a:gs>
                    <a:gs pos="100000">
                      <a:srgbClr val="F5E8DC"/>
                    </a:gs>
                  </a:gsLst>
                  <a:lin ang="162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汉仪新人文宋 75W" panose="00020600040101010101" pitchFamily="18" charset="-122"/>
                <a:ea typeface="汉仪新人文宋 75W" panose="00020600040101010101" pitchFamily="18" charset="-122"/>
                <a:cs typeface="+mn-ea"/>
                <a:sym typeface="+mn-ea"/>
              </a:rPr>
              <a:t>Thanks!</a:t>
            </a:r>
            <a:endParaRPr lang="en-US" altLang="zh-CN" sz="6000" b="1" noProof="0" dirty="0">
              <a:ln w="12700">
                <a:noFill/>
              </a:ln>
              <a:gradFill>
                <a:gsLst>
                  <a:gs pos="9000">
                    <a:srgbClr val="D8AD80"/>
                  </a:gs>
                  <a:gs pos="100000">
                    <a:srgbClr val="F5E8DC"/>
                  </a:gs>
                </a:gsLst>
                <a:lin ang="16200000" scaled="1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汉仪新人文宋 75W" panose="00020600040101010101" pitchFamily="18" charset="-122"/>
              <a:ea typeface="汉仪新人文宋 75W" panose="00020600040101010101" pitchFamily="18" charset="-122"/>
              <a:cs typeface="+mn-ea"/>
              <a:sym typeface="+mn-ea"/>
            </a:endParaRPr>
          </a:p>
        </p:txBody>
      </p:sp>
      <p:grpSp>
        <p:nvGrpSpPr>
          <p:cNvPr id="10" name="组合 9"/>
          <p:cNvGrpSpPr>
            <a:grpSpLocks noChangeAspect="1"/>
          </p:cNvGrpSpPr>
          <p:nvPr/>
        </p:nvGrpSpPr>
        <p:grpSpPr>
          <a:xfrm>
            <a:off x="387985" y="194945"/>
            <a:ext cx="1618186" cy="703501"/>
            <a:chOff x="143" y="237"/>
            <a:chExt cx="2909" cy="1265"/>
          </a:xfrm>
        </p:grpSpPr>
        <p:pic>
          <p:nvPicPr>
            <p:cNvPr id="8" name="图片 7"/>
            <p:cNvPicPr/>
            <p:nvPr>
              <p:custDataLst>
                <p:tags r:id="rId3"/>
              </p:custDataLst>
            </p:nvPr>
          </p:nvPicPr>
          <p:blipFill>
            <a:blip r:embed="rId4" cstate="email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  <a:alpha val="0"/>
                  </a:srgbClr>
                </a:clrTo>
              </a:clrChange>
              <a:lum bright="94000" contrast="-70000"/>
            </a:blip>
            <a:srcRect l="33420" t="-971"/>
            <a:stretch>
              <a:fillRect/>
            </a:stretch>
          </p:blipFill>
          <p:spPr>
            <a:xfrm>
              <a:off x="1545" y="487"/>
              <a:ext cx="1507" cy="764"/>
            </a:xfrm>
            <a:prstGeom prst="rect">
              <a:avLst/>
            </a:prstGeom>
            <a:noFill/>
          </p:spPr>
        </p:pic>
        <p:pic>
          <p:nvPicPr>
            <p:cNvPr id="9" name="图片 8" descr="校院标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rcRect r="54601" b="34252"/>
            <a:stretch>
              <a:fillRect/>
            </a:stretch>
          </p:blipFill>
          <p:spPr>
            <a:xfrm>
              <a:off x="143" y="237"/>
              <a:ext cx="1337" cy="1265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2880995" y="337820"/>
            <a:ext cx="7308215" cy="412115"/>
            <a:chOff x="4537" y="532"/>
            <a:chExt cx="11509" cy="649"/>
          </a:xfrm>
        </p:grpSpPr>
        <p:pic>
          <p:nvPicPr>
            <p:cNvPr id="21" name="图片 20" descr="椭圆 3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4537" y="1159"/>
              <a:ext cx="11509" cy="2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3" name="文本框 2"/>
            <p:cNvSpPr txBox="1"/>
            <p:nvPr>
              <p:custDataLst>
                <p:tags r:id="rId9"/>
              </p:custDataLst>
            </p:nvPr>
          </p:nvSpPr>
          <p:spPr>
            <a:xfrm>
              <a:off x="6581" y="532"/>
              <a:ext cx="5965" cy="628"/>
            </a:xfrm>
            <a:prstGeom prst="rect">
              <a:avLst/>
            </a:prstGeom>
            <a:noFill/>
            <a:effectLst>
              <a:softEdge rad="63500"/>
            </a:effectLst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 marR="0" lvl="0" indent="0" fontAlgn="auto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5400" b="1" i="0" u="none" strike="noStrike" cap="none" spc="0" normalizeH="0" baseline="0">
                  <a:ln>
                    <a:noFill/>
                  </a:ln>
                  <a:gradFill>
                    <a:gsLst>
                      <a:gs pos="0">
                        <a:srgbClr val="CDA23D"/>
                      </a:gs>
                      <a:gs pos="55000">
                        <a:srgbClr val="E1B64A"/>
                      </a:gs>
                      <a:gs pos="100000">
                        <a:srgbClr val="F7E880">
                          <a:lumMod val="99000"/>
                        </a:srgbClr>
                      </a:gs>
                    </a:gsLst>
                    <a:lin ang="2700000" scaled="1"/>
                  </a:gra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 w="12700">
                    <a:noFill/>
                  </a:ln>
                  <a:solidFill>
                    <a:srgbClr val="F8CEB2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汉仪新人文宋 75W" panose="00020600040101010101" pitchFamily="18" charset="-122"/>
                  <a:ea typeface="汉仪新人文宋 75W" panose="00020600040101010101" pitchFamily="18" charset="-122"/>
                  <a:cs typeface="+mn-ea"/>
                  <a:sym typeface="+mn-lt"/>
                </a:rPr>
                <a:t>SEU Pattern Classification</a:t>
              </a:r>
              <a:endParaRPr kumimoji="0" lang="en-US" altLang="zh-CN" sz="2000" b="0" i="0" u="none" strike="noStrike" kern="1200" cap="none" spc="0" normalizeH="0" baseline="0" noProof="0" dirty="0">
                <a:ln w="12700">
                  <a:noFill/>
                </a:ln>
                <a:solidFill>
                  <a:srgbClr val="F8CEB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汉仪新人文宋 75W" panose="00020600040101010101" pitchFamily="18" charset="-122"/>
                <a:ea typeface="汉仪新人文宋 75W" panose="00020600040101010101" pitchFamily="18" charset="-122"/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781050" y="4346575"/>
            <a:ext cx="8442960" cy="600710"/>
            <a:chOff x="1230" y="6845"/>
            <a:chExt cx="13296" cy="946"/>
          </a:xfrm>
        </p:grpSpPr>
        <p:sp>
          <p:nvSpPr>
            <p:cNvPr id="11" name="文本框 10"/>
            <p:cNvSpPr txBox="1"/>
            <p:nvPr/>
          </p:nvSpPr>
          <p:spPr>
            <a:xfrm>
              <a:off x="1230" y="7161"/>
              <a:ext cx="13296" cy="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Team members: 71123329 Jiawen Duan, 71123331 </a:t>
              </a:r>
              <a:r>
                <a:rPr lang="en-US" altLang="zh-CN" sz="20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Xirui</a:t>
              </a:r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 Yang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378" y="6845"/>
              <a:ext cx="6661" cy="1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PA" val="v4.1.3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PA" val="v4.1.3"/>
  <p:tag name="KSO_WM_BEAUTIFY_FLAG" val=""/>
</p:tagLst>
</file>

<file path=ppt/tags/tag6.xml><?xml version="1.0" encoding="utf-8"?>
<p:tagLst xmlns:p="http://schemas.openxmlformats.org/presentationml/2006/main">
  <p:tag name="KSO_WM_DIAGRAM_VIRTUALLY_FRAME" val="{&quot;height&quot;:399.5094488188976,&quot;left&quot;:30.000078740157484,&quot;top&quot;:96.05661417322834,&quot;width&quot;:899.9999212598425}"/>
</p:tagLst>
</file>

<file path=ppt/tags/tag7.xml><?xml version="1.0" encoding="utf-8"?>
<p:tagLst xmlns:p="http://schemas.openxmlformats.org/presentationml/2006/main">
  <p:tag name="KSO_WM_DIAGRAM_VIRTUALLY_FRAME" val="{&quot;height&quot;:399.5094488188976,&quot;left&quot;:30.000078740157484,&quot;top&quot;:96.05661417322834,&quot;width&quot;:899.9999212598425}"/>
</p:tagLst>
</file>

<file path=ppt/tags/tag8.xml><?xml version="1.0" encoding="utf-8"?>
<p:tagLst xmlns:p="http://schemas.openxmlformats.org/presentationml/2006/main">
  <p:tag name="KSO_WM_DIAGRAM_VIRTUALLY_FRAME" val="{&quot;height&quot;:399.5094488188976,&quot;left&quot;:30.000078740157484,&quot;top&quot;:96.05661417322834,&quot;width&quot;:899.9999212598425}"/>
</p:tagLst>
</file>

<file path=ppt/tags/tag9.xml><?xml version="1.0" encoding="utf-8"?>
<p:tagLst xmlns:p="http://schemas.openxmlformats.org/presentationml/2006/main">
  <p:tag name="KSO_WM_DIAGRAM_VIRTUALLY_FRAME" val="{&quot;height&quot;:399.5094488188976,&quot;left&quot;:30.000078740157484,&quot;top&quot;:96.05661417322834,&quot;width&quot;:899.9999212598425}"/>
</p:tagLst>
</file>

<file path=ppt/tags/tag10.xml><?xml version="1.0" encoding="utf-8"?>
<p:tagLst xmlns:p="http://schemas.openxmlformats.org/presentationml/2006/main">
  <p:tag name="KSO_WM_DIAGRAM_VIRTUALLY_FRAME" val="{&quot;height&quot;:399.5094488188976,&quot;left&quot;:30.000078740157484,&quot;top&quot;:96.05661417322834,&quot;width&quot;:899.9999212598425}"/>
</p:tagLst>
</file>

<file path=ppt/tags/tag11.xml><?xml version="1.0" encoding="utf-8"?>
<p:tagLst xmlns:p="http://schemas.openxmlformats.org/presentationml/2006/main">
  <p:tag name="KSO_WM_DIAGRAM_VIRTUALLY_FRAME" val="{&quot;height&quot;:399.5094488188976,&quot;left&quot;:30.000078740157484,&quot;top&quot;:96.05661417322834,&quot;width&quot;:899.9999212598425}"/>
</p:tagLst>
</file>

<file path=ppt/tags/tag12.xml><?xml version="1.0" encoding="utf-8"?>
<p:tagLst xmlns:p="http://schemas.openxmlformats.org/presentationml/2006/main">
  <p:tag name="KSO_WM_DIAGRAM_VIRTUALLY_FRAME" val="{&quot;height&quot;:399.5094488188976,&quot;left&quot;:30.000078740157484,&quot;top&quot;:96.05661417322834,&quot;width&quot;:899.9999212598425}"/>
</p:tagLst>
</file>

<file path=ppt/tags/tag13.xml><?xml version="1.0" encoding="utf-8"?>
<p:tagLst xmlns:p="http://schemas.openxmlformats.org/presentationml/2006/main">
  <p:tag name="KSO_WM_DIAGRAM_VIRTUALLY_FRAME" val="{&quot;height&quot;:399.5094488188976,&quot;left&quot;:30.000078740157484,&quot;top&quot;:96.05661417322834,&quot;width&quot;:899.9999212598425}"/>
</p:tagLst>
</file>

<file path=ppt/tags/tag14.xml><?xml version="1.0" encoding="utf-8"?>
<p:tagLst xmlns:p="http://schemas.openxmlformats.org/presentationml/2006/main">
  <p:tag name="KSO_WM_DIAGRAM_VIRTUALLY_FRAME" val="{&quot;height&quot;:399.5094488188976,&quot;left&quot;:30.000078740157484,&quot;top&quot;:96.05661417322834,&quot;width&quot;:899.9999212598425}"/>
</p:tagLst>
</file>

<file path=ppt/tags/tag15.xml><?xml version="1.0" encoding="utf-8"?>
<p:tagLst xmlns:p="http://schemas.openxmlformats.org/presentationml/2006/main">
  <p:tag name="KSO_WM_DIAGRAM_VIRTUALLY_FRAME" val="{&quot;height&quot;:399.5094488188976,&quot;left&quot;:30.000078740157484,&quot;top&quot;:96.05661417322834,&quot;width&quot;:899.9999212598425}"/>
</p:tagLst>
</file>

<file path=ppt/tags/tag16.xml><?xml version="1.0" encoding="utf-8"?>
<p:tagLst xmlns:p="http://schemas.openxmlformats.org/presentationml/2006/main">
  <p:tag name="KSO_WM_DIAGRAM_VIRTUALLY_FRAME" val="{&quot;height&quot;:399.5094488188976,&quot;left&quot;:30.000078740157484,&quot;top&quot;:96.05661417322834,&quot;width&quot;:899.9999212598425}"/>
</p:tagLst>
</file>

<file path=ppt/tags/tag17.xml><?xml version="1.0" encoding="utf-8"?>
<p:tagLst xmlns:p="http://schemas.openxmlformats.org/presentationml/2006/main">
  <p:tag name="KSO_WM_DIAGRAM_VIRTUALLY_FRAME" val="{&quot;height&quot;:399.5094488188976,&quot;left&quot;:30.000078740157484,&quot;top&quot;:96.05661417322834,&quot;width&quot;:899.9999212598425}"/>
</p:tagLst>
</file>

<file path=ppt/tags/tag18.xml><?xml version="1.0" encoding="utf-8"?>
<p:tagLst xmlns:p="http://schemas.openxmlformats.org/presentationml/2006/main">
  <p:tag name="KSO_WM_DIAGRAM_VIRTUALLY_FRAME" val="{&quot;height&quot;:399.5094488188976,&quot;left&quot;:30.000078740157484,&quot;top&quot;:96.05661417322834,&quot;width&quot;:899.9999212598425}"/>
</p:tagLst>
</file>

<file path=ppt/tags/tag19.xml><?xml version="1.0" encoding="utf-8"?>
<p:tagLst xmlns:p="http://schemas.openxmlformats.org/presentationml/2006/main">
  <p:tag name="KSO_WM_DIAGRAM_VIRTUALLY_FRAME" val="{&quot;height&quot;:399.5094488188976,&quot;left&quot;:30.000078740157484,&quot;top&quot;:96.05661417322834,&quot;width&quot;:899.9999212598425}"/>
</p:tagLst>
</file>

<file path=ppt/tags/tag20.xml><?xml version="1.0" encoding="utf-8"?>
<p:tagLst xmlns:p="http://schemas.openxmlformats.org/presentationml/2006/main">
  <p:tag name="KSO_WM_DIAGRAM_VIRTUALLY_FRAME" val="{&quot;height&quot;:399.5094488188976,&quot;left&quot;:30.000078740157484,&quot;top&quot;:96.05661417322834,&quot;width&quot;:899.9999212598425}"/>
</p:tagLst>
</file>

<file path=ppt/tags/tag21.xml><?xml version="1.0" encoding="utf-8"?>
<p:tagLst xmlns:p="http://schemas.openxmlformats.org/presentationml/2006/main">
  <p:tag name="KSO_WM_DIAGRAM_VIRTUALLY_FRAME" val="{&quot;height&quot;:399.5094488188976,&quot;left&quot;:30.000078740157484,&quot;top&quot;:96.05661417322834,&quot;width&quot;:899.9999212598425}"/>
</p:tagLst>
</file>

<file path=ppt/tags/tag22.xml><?xml version="1.0" encoding="utf-8"?>
<p:tagLst xmlns:p="http://schemas.openxmlformats.org/presentationml/2006/main">
  <p:tag name="KSO_WM_DIAGRAM_VIRTUALLY_FRAME" val="{&quot;height&quot;:399.5094488188976,&quot;left&quot;:30.000078740157484,&quot;top&quot;:96.05661417322834,&quot;width&quot;:899.9999212598425}"/>
</p:tagLst>
</file>

<file path=ppt/tags/tag23.xml><?xml version="1.0" encoding="utf-8"?>
<p:tagLst xmlns:p="http://schemas.openxmlformats.org/presentationml/2006/main">
  <p:tag name="KSO_WM_DIAGRAM_VIRTUALLY_FRAME" val="{&quot;height&quot;:399.5094488188976,&quot;left&quot;:30.000078740157484,&quot;top&quot;:96.05661417322834,&quot;width&quot;:899.9999212598425}"/>
</p:tagLst>
</file>

<file path=ppt/tags/tag24.xml><?xml version="1.0" encoding="utf-8"?>
<p:tagLst xmlns:p="http://schemas.openxmlformats.org/presentationml/2006/main">
  <p:tag name="PA" val="v4.1.3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PA" val="v4.1.3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8611</Words>
  <Application>WPS 演示</Application>
  <PresentationFormat>宽屏</PresentationFormat>
  <Paragraphs>330</Paragraphs>
  <Slides>11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Arial</vt:lpstr>
      <vt:lpstr>汉仪新人文宋 75W</vt:lpstr>
      <vt:lpstr>汉仪雅酷黑 65W</vt:lpstr>
      <vt:lpstr>Arial</vt:lpstr>
      <vt:lpstr>Arial</vt:lpstr>
      <vt:lpstr>Consolas</vt:lpstr>
      <vt:lpstr>Consolas</vt:lpstr>
      <vt:lpstr>Consolas</vt:lpstr>
      <vt:lpstr>等线</vt:lpstr>
      <vt:lpstr>黑体</vt:lpstr>
      <vt:lpstr>Arial Unicode MS</vt:lpstr>
      <vt:lpstr>等线 Light</vt:lpstr>
      <vt:lpstr>Calibri</vt:lpstr>
      <vt:lpstr>汉仪新人文宋W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嘉文 段</dc:creator>
  <cp:lastModifiedBy>WPS_1697298216</cp:lastModifiedBy>
  <cp:revision>7</cp:revision>
  <dcterms:created xsi:type="dcterms:W3CDTF">2025-11-20T10:12:00Z</dcterms:created>
  <dcterms:modified xsi:type="dcterms:W3CDTF">2025-11-20T13:40:40Z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7C3DAAAC08074F9CAE67DC833057A579_13</vt:lpwstr>
  </property>
  <property fmtid="{D5CDD505-2E9C-101B-9397-08002B2CF9AE}" pid="3" name="KSOProductBuildVer">
    <vt:lpwstr>2052-12.1.0.23125</vt:lpwstr>
  </property>
</Properties>
</file>