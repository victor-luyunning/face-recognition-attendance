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4" r:id="rId2"/>
    <p:sldId id="256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7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B321BD-613F-4192-97EB-C60FBDE48C2C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57DEAB-66D8-4D19-A9D7-18ABEF4096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373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8CF21D-9B0D-21FE-4D84-FE7667D7C3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DA26116-BBD4-E779-443A-E6C2C7F840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8D84B2-8120-345E-B981-DED589874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56BD7A-B5D5-CF9C-E42E-5A3D05A60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6C9E-C21E-440F-7A33-07377A885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3850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3619CD-DEA5-0150-7904-FD5E7FA2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72A4F9-6FC9-E74B-474D-D7A645BC9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9E6EA5-AFE5-6032-319E-BCE5C512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430A1C-A448-59E3-8FE7-023FB33D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86A54E8-DA20-9F21-F7B4-38ADA5CE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2145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8508AD-D2A4-B137-4191-28E597C45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D6C9BD-33EF-2711-FB34-46154453E2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1283C8-76E3-B057-C912-F62A23BDF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DDCBEA-CDC7-D453-6487-E337094B4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25DFAB-54FE-A6D6-A589-785B39783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6872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743C46-8FBA-B2D1-E4C2-25751D4F9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DCC1A5-1D6B-AAB8-25AB-6E86BD6D78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EB9E8ED-8509-7744-B504-D32305AB62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7DF94A-2A5E-2C30-5343-C3790B749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0CF9C5C-AFB6-1642-2C05-C8A4B208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26254B-F8C8-ABF5-7CF0-C4D02C38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8146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5A2A43-A334-982B-03C6-5CA42F694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098A5C7-D2F6-3F54-C0F6-3DFD955A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750101C-9A22-B4F0-C40E-36437DEFEA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CDD134C-6848-3012-1775-7F27358BB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C08FE5D-BC3B-89C1-1FC7-4F61E57DBA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68846CB-262E-5EBA-7960-ED40421F5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77CA33E-6228-0FB5-4E94-DD45972CA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94CA17E-32B7-513A-B29D-9A2D1404E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540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39A175-1AC2-C878-66DA-13FD4CDB0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C4EEE2E-E550-E644-A503-7EDFC6F9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2E20F9-4D5C-EB44-A2CF-3765E96BE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18C6979-5234-5BB8-10C3-F47D761DB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9900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567D36B-CA45-AFDE-5A91-90754689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27FE9A6-9A97-2F0C-CBAD-16321CA25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8C05CC-6CE7-A0C8-5D4D-CC6099E24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1145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B547C4-0918-3ED5-C6F8-CD3C65503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DB8DB6-2BAF-BF6B-919B-7E64CD43E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FDBF4D7-EEA8-133C-3FCD-4AADF7938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CABC900-A269-9883-D016-7969472BC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CA0D1D-F67B-6956-B674-595335DB6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F4563F-6226-691B-DFF3-B89CE34E9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3768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F994D3-21F4-DF92-E220-192BF31CD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A867AED-9EC7-19EE-4761-0A594B034F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3357A8-F294-4985-28BE-4CEBCC0C2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F090778-B678-841F-17A5-8A9A07E8E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D9F85E-3AA0-B6C1-F4A9-FB8C6B5D3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4477B9-9A7E-8DE2-9632-0D3F0AFB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639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81199-460F-4C5F-25C2-1D595374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555C66D-EF90-9A43-8CE8-2C449FA639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D34161-3640-05FB-0F17-0CF4CF0DD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898FCA4-BF7B-CAD6-AEC3-8FA3B2510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091B9D-0C22-E940-1CEB-04FB1BE80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5163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EEB59BC-CEE0-4E02-0A4C-92EBDFEAB6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889D331-A977-FA1A-6240-7865C87E8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EDF17C3-E9BE-17CE-E01F-727D9E0CD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E81E53-82DF-8E60-B7F5-58E7A16EF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B0A51A-C96F-717C-8AC3-A16C53D4A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948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9061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8BF7218-A2EA-B764-CFA3-9E87C4C1A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057CF89-4218-53E0-34BD-42E3BF51F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9D601A-26D3-17D1-FDD3-E172A81538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EB3641-7478-43BF-A718-D81452921D15}" type="datetimeFigureOut">
              <a:rPr lang="zh-CN" altLang="en-US" smtClean="0"/>
              <a:t>2025/11/20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597104-54BF-B3A6-C9CB-E067B466DC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301CC5-30C8-42EF-9D37-41A3CE5109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D5A161-E1F7-47D2-90D7-28213E8AF30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063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3.xml"/><Relationship Id="rId7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5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image" Target="../media/image5.png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26" Type="http://schemas.openxmlformats.org/officeDocument/2006/relationships/image" Target="../media/image42.png"/><Relationship Id="rId3" Type="http://schemas.openxmlformats.org/officeDocument/2006/relationships/image" Target="../media/image5.png"/><Relationship Id="rId21" Type="http://schemas.openxmlformats.org/officeDocument/2006/relationships/image" Target="../media/image37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5" Type="http://schemas.openxmlformats.org/officeDocument/2006/relationships/image" Target="../media/image4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29" Type="http://schemas.openxmlformats.org/officeDocument/2006/relationships/image" Target="../media/image4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24" Type="http://schemas.openxmlformats.org/officeDocument/2006/relationships/image" Target="../media/image40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23" Type="http://schemas.openxmlformats.org/officeDocument/2006/relationships/image" Target="../media/image39.png"/><Relationship Id="rId28" Type="http://schemas.openxmlformats.org/officeDocument/2006/relationships/image" Target="../media/image44.png"/><Relationship Id="rId10" Type="http://schemas.openxmlformats.org/officeDocument/2006/relationships/image" Target="../media/image26.png"/><Relationship Id="rId19" Type="http://schemas.openxmlformats.org/officeDocument/2006/relationships/image" Target="../media/image35.png"/><Relationship Id="rId4" Type="http://schemas.openxmlformats.org/officeDocument/2006/relationships/image" Target="../media/image6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Relationship Id="rId22" Type="http://schemas.openxmlformats.org/officeDocument/2006/relationships/image" Target="../media/image38.png"/><Relationship Id="rId27" Type="http://schemas.openxmlformats.org/officeDocument/2006/relationships/image" Target="../media/image43.png"/><Relationship Id="rId30" Type="http://schemas.openxmlformats.org/officeDocument/2006/relationships/image" Target="../media/image4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18" Type="http://schemas.openxmlformats.org/officeDocument/2006/relationships/image" Target="../media/image76.png"/><Relationship Id="rId3" Type="http://schemas.openxmlformats.org/officeDocument/2006/relationships/image" Target="../media/image5.png"/><Relationship Id="rId21" Type="http://schemas.openxmlformats.org/officeDocument/2006/relationships/image" Target="../media/image79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17" Type="http://schemas.openxmlformats.org/officeDocument/2006/relationships/image" Target="../media/image75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4.png"/><Relationship Id="rId20" Type="http://schemas.openxmlformats.org/officeDocument/2006/relationships/image" Target="../media/image7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23" Type="http://schemas.openxmlformats.org/officeDocument/2006/relationships/image" Target="../media/image81.png"/><Relationship Id="rId10" Type="http://schemas.openxmlformats.org/officeDocument/2006/relationships/image" Target="../media/image68.png"/><Relationship Id="rId19" Type="http://schemas.openxmlformats.org/officeDocument/2006/relationships/image" Target="../media/image77.png"/><Relationship Id="rId4" Type="http://schemas.openxmlformats.org/officeDocument/2006/relationships/image" Target="../media/image6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Relationship Id="rId22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102.png"/><Relationship Id="rId3" Type="http://schemas.openxmlformats.org/officeDocument/2006/relationships/image" Target="../media/image5.png"/><Relationship Id="rId21" Type="http://schemas.openxmlformats.org/officeDocument/2006/relationships/image" Target="../media/image98.png"/><Relationship Id="rId34" Type="http://schemas.openxmlformats.org/officeDocument/2006/relationships/image" Target="../media/image110.png"/><Relationship Id="rId7" Type="http://schemas.openxmlformats.org/officeDocument/2006/relationships/image" Target="../media/image84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101.png"/><Relationship Id="rId33" Type="http://schemas.openxmlformats.org/officeDocument/2006/relationships/image" Target="../media/image109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93.png"/><Relationship Id="rId20" Type="http://schemas.openxmlformats.org/officeDocument/2006/relationships/image" Target="../media/image97.png"/><Relationship Id="rId29" Type="http://schemas.openxmlformats.org/officeDocument/2006/relationships/image" Target="../media/image10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3.png"/><Relationship Id="rId11" Type="http://schemas.openxmlformats.org/officeDocument/2006/relationships/image" Target="../media/image88.png"/><Relationship Id="rId24" Type="http://schemas.openxmlformats.org/officeDocument/2006/relationships/image" Target="../media/image100.png"/><Relationship Id="rId32" Type="http://schemas.openxmlformats.org/officeDocument/2006/relationships/image" Target="../media/image108.png"/><Relationship Id="rId5" Type="http://schemas.openxmlformats.org/officeDocument/2006/relationships/image" Target="../media/image82.png"/><Relationship Id="rId15" Type="http://schemas.openxmlformats.org/officeDocument/2006/relationships/image" Target="../media/image92.png"/><Relationship Id="rId23" Type="http://schemas.openxmlformats.org/officeDocument/2006/relationships/image" Target="../media/image48.png"/><Relationship Id="rId28" Type="http://schemas.openxmlformats.org/officeDocument/2006/relationships/image" Target="../media/image104.png"/><Relationship Id="rId36" Type="http://schemas.openxmlformats.org/officeDocument/2006/relationships/image" Target="../media/image112.png"/><Relationship Id="rId10" Type="http://schemas.openxmlformats.org/officeDocument/2006/relationships/image" Target="../media/image87.png"/><Relationship Id="rId19" Type="http://schemas.openxmlformats.org/officeDocument/2006/relationships/image" Target="../media/image96.png"/><Relationship Id="rId31" Type="http://schemas.openxmlformats.org/officeDocument/2006/relationships/image" Target="../media/image107.png"/><Relationship Id="rId4" Type="http://schemas.openxmlformats.org/officeDocument/2006/relationships/image" Target="../media/image6.png"/><Relationship Id="rId9" Type="http://schemas.openxmlformats.org/officeDocument/2006/relationships/image" Target="../media/image86.png"/><Relationship Id="rId14" Type="http://schemas.openxmlformats.org/officeDocument/2006/relationships/image" Target="../media/image91.png"/><Relationship Id="rId22" Type="http://schemas.openxmlformats.org/officeDocument/2006/relationships/image" Target="../media/image99.png"/><Relationship Id="rId27" Type="http://schemas.openxmlformats.org/officeDocument/2006/relationships/image" Target="../media/image103.png"/><Relationship Id="rId30" Type="http://schemas.openxmlformats.org/officeDocument/2006/relationships/image" Target="../media/image106.png"/><Relationship Id="rId35" Type="http://schemas.openxmlformats.org/officeDocument/2006/relationships/image" Target="../media/image111.png"/><Relationship Id="rId8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5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3.png"/><Relationship Id="rId11" Type="http://schemas.openxmlformats.org/officeDocument/2006/relationships/image" Target="../media/image118.png"/><Relationship Id="rId5" Type="http://schemas.openxmlformats.org/officeDocument/2006/relationships/image" Target="../media/image113.png"/><Relationship Id="rId10" Type="http://schemas.openxmlformats.org/officeDocument/2006/relationships/image" Target="../media/image117.png"/><Relationship Id="rId4" Type="http://schemas.openxmlformats.org/officeDocument/2006/relationships/image" Target="../media/image6.png"/><Relationship Id="rId9" Type="http://schemas.openxmlformats.org/officeDocument/2006/relationships/image" Target="../media/image1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13" Type="http://schemas.openxmlformats.org/officeDocument/2006/relationships/image" Target="../media/image127.png"/><Relationship Id="rId18" Type="http://schemas.openxmlformats.org/officeDocument/2006/relationships/image" Target="../media/image132.png"/><Relationship Id="rId3" Type="http://schemas.openxmlformats.org/officeDocument/2006/relationships/image" Target="../media/image5.png"/><Relationship Id="rId7" Type="http://schemas.openxmlformats.org/officeDocument/2006/relationships/image" Target="../media/image121.png"/><Relationship Id="rId12" Type="http://schemas.openxmlformats.org/officeDocument/2006/relationships/image" Target="../media/image126.png"/><Relationship Id="rId17" Type="http://schemas.openxmlformats.org/officeDocument/2006/relationships/image" Target="../media/image131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0.png"/><Relationship Id="rId11" Type="http://schemas.openxmlformats.org/officeDocument/2006/relationships/image" Target="../media/image125.png"/><Relationship Id="rId5" Type="http://schemas.openxmlformats.org/officeDocument/2006/relationships/image" Target="../media/image119.png"/><Relationship Id="rId15" Type="http://schemas.openxmlformats.org/officeDocument/2006/relationships/image" Target="../media/image129.png"/><Relationship Id="rId10" Type="http://schemas.openxmlformats.org/officeDocument/2006/relationships/image" Target="../media/image124.png"/><Relationship Id="rId19" Type="http://schemas.openxmlformats.org/officeDocument/2006/relationships/image" Target="../media/image133.png"/><Relationship Id="rId4" Type="http://schemas.openxmlformats.org/officeDocument/2006/relationships/image" Target="../media/image6.png"/><Relationship Id="rId9" Type="http://schemas.openxmlformats.org/officeDocument/2006/relationships/image" Target="../media/image123.png"/><Relationship Id="rId14" Type="http://schemas.openxmlformats.org/officeDocument/2006/relationships/image" Target="../media/image12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3" Type="http://schemas.openxmlformats.org/officeDocument/2006/relationships/image" Target="../media/image5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10" Type="http://schemas.openxmlformats.org/officeDocument/2006/relationships/image" Target="../media/image139.png"/><Relationship Id="rId4" Type="http://schemas.openxmlformats.org/officeDocument/2006/relationships/image" Target="../media/image6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8.xml"/><Relationship Id="rId7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10.xml"/><Relationship Id="rId10" Type="http://schemas.openxmlformats.org/officeDocument/2006/relationships/image" Target="../media/image4.png"/><Relationship Id="rId4" Type="http://schemas.openxmlformats.org/officeDocument/2006/relationships/tags" Target="../tags/tag9.xml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09855"/>
            <a:ext cx="12192000" cy="6443980"/>
          </a:xfrm>
          <a:prstGeom prst="rect">
            <a:avLst/>
          </a:prstGeom>
          <a:solidFill>
            <a:srgbClr val="182F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377" y="968700"/>
            <a:ext cx="4226084" cy="4226084"/>
          </a:xfrm>
          <a:prstGeom prst="rect">
            <a:avLst/>
          </a:prstGeom>
        </p:spPr>
      </p:pic>
      <p:sp>
        <p:nvSpPr>
          <p:cNvPr id="6" name="矩形 5"/>
          <p:cNvSpPr/>
          <p:nvPr/>
        </p:nvSpPr>
        <p:spPr>
          <a:xfrm>
            <a:off x="0" y="6129338"/>
            <a:ext cx="12192000" cy="7286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2"/>
          <p:cNvSpPr txBox="1"/>
          <p:nvPr>
            <p:custDataLst>
              <p:tags r:id="rId1"/>
            </p:custDataLst>
          </p:nvPr>
        </p:nvSpPr>
        <p:spPr>
          <a:xfrm>
            <a:off x="4776470" y="325120"/>
            <a:ext cx="2153285" cy="398780"/>
          </a:xfrm>
          <a:prstGeom prst="rect">
            <a:avLst/>
          </a:prstGeom>
        </p:spPr>
        <p:txBody>
          <a:bodyPr wrap="square" anchor="ctr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 panose="020B0604020202020204"/>
                <a:ea typeface="微软雅黑" panose="020B0503020204020204" charset="-122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12700">
                  <a:noFill/>
                </a:ln>
                <a:solidFill>
                  <a:srgbClr val="182F7B"/>
                </a:solidFill>
                <a:effectLst/>
                <a:uLnTx/>
                <a:uFillTx/>
                <a:latin typeface="汉仪新人文宋 75W" panose="00020600040101010101" pitchFamily="18" charset="-122"/>
                <a:ea typeface="汉仪新人文宋 75W" panose="00020600040101010101" pitchFamily="18" charset="-122"/>
                <a:cs typeface="+mn-ea"/>
                <a:sym typeface="+mn-lt"/>
              </a:rPr>
              <a:t>校长奖学金答辩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939800" y="-370205"/>
            <a:ext cx="11381740" cy="7040880"/>
            <a:chOff x="1480" y="-583"/>
            <a:chExt cx="17924" cy="11088"/>
          </a:xfrm>
        </p:grpSpPr>
        <p:sp>
          <p:nvSpPr>
            <p:cNvPr id="13" name="矩形 12"/>
            <p:cNvSpPr/>
            <p:nvPr/>
          </p:nvSpPr>
          <p:spPr>
            <a:xfrm>
              <a:off x="1480" y="9974"/>
              <a:ext cx="16656" cy="5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dist"/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ＳＯＵＴＨ</a:t>
              </a:r>
              <a:r>
                <a:rPr lang="en-US" altLang="zh-CN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E</a:t>
              </a:r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ＡＳＴ　Ｕ</a:t>
              </a:r>
              <a:r>
                <a:rPr lang="en-US" altLang="zh-CN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N</a:t>
              </a:r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ＩＶＥＲＳＩＴＹ</a:t>
              </a:r>
              <a:endParaRPr lang="zh-CN" altLang="en-US" sz="1600" dirty="0">
                <a:solidFill>
                  <a:srgbClr val="182F7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 rot="5400000">
              <a:off x="12970" y="3802"/>
              <a:ext cx="10819" cy="204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ctr"/>
              <a:r>
                <a:rPr lang="en-US" altLang="zh-CN" sz="8000" dirty="0">
                  <a:solidFill>
                    <a:schemeClr val="bg1">
                      <a:alpha val="15000"/>
                    </a:schemeClr>
                  </a:solidFill>
                  <a:latin typeface="汉仪雅酷黑 65W" panose="020B0604020202020204" pitchFamily="34" charset="-122"/>
                  <a:ea typeface="汉仪雅酷黑 65W" panose="020B0604020202020204" pitchFamily="34" charset="-122"/>
                  <a:cs typeface="Arial" panose="020B0604020202020204" pitchFamily="34" charset="0"/>
                  <a:sym typeface="+mn-lt"/>
                </a:rPr>
                <a:t>SOUTHEAST</a:t>
              </a:r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729189" y="2195512"/>
            <a:ext cx="10067807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noProof="0" dirty="0">
                <a:ln w="12700">
                  <a:noFill/>
                </a:ln>
                <a:gradFill>
                  <a:gsLst>
                    <a:gs pos="9000">
                      <a:srgbClr val="D8AD80"/>
                    </a:gs>
                    <a:gs pos="100000">
                      <a:srgbClr val="F5E8DC"/>
                    </a:gs>
                  </a:gsLst>
                  <a:lin ang="16200000" scaled="1"/>
                </a:gra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汉仪新人文宋 75W" panose="00020600040101010101" pitchFamily="18" charset="-122"/>
                <a:ea typeface="汉仪新人文宋 75W" panose="00020600040101010101" pitchFamily="18" charset="-122"/>
                <a:cs typeface="+mn-ea"/>
                <a:sym typeface="+mn-ea"/>
              </a:rPr>
              <a:t>Photo-based Attendance Marking System</a:t>
            </a:r>
          </a:p>
        </p:txBody>
      </p:sp>
      <p:grpSp>
        <p:nvGrpSpPr>
          <p:cNvPr id="10" name="组合 9"/>
          <p:cNvGrpSpPr>
            <a:grpSpLocks noChangeAspect="1"/>
          </p:cNvGrpSpPr>
          <p:nvPr/>
        </p:nvGrpSpPr>
        <p:grpSpPr>
          <a:xfrm>
            <a:off x="387985" y="194945"/>
            <a:ext cx="1618186" cy="703501"/>
            <a:chOff x="143" y="237"/>
            <a:chExt cx="2909" cy="1265"/>
          </a:xfrm>
        </p:grpSpPr>
        <p:pic>
          <p:nvPicPr>
            <p:cNvPr id="8" name="图片 7"/>
            <p:cNvPicPr/>
            <p:nvPr>
              <p:custDataLst>
                <p:tags r:id="rId4"/>
              </p:custDataLst>
            </p:nvPr>
          </p:nvPicPr>
          <p:blipFill>
            <a:blip r:embed="rId8" cstate="email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  <a:alpha val="0"/>
                  </a:srgbClr>
                </a:clrTo>
              </a:clrChange>
              <a:lum bright="94000" contrast="-70000"/>
            </a:blip>
            <a:srcRect l="33420" t="-971"/>
            <a:stretch>
              <a:fillRect/>
            </a:stretch>
          </p:blipFill>
          <p:spPr>
            <a:xfrm>
              <a:off x="1545" y="487"/>
              <a:ext cx="1507" cy="764"/>
            </a:xfrm>
            <a:prstGeom prst="rect">
              <a:avLst/>
            </a:prstGeom>
            <a:noFill/>
          </p:spPr>
        </p:pic>
        <p:pic>
          <p:nvPicPr>
            <p:cNvPr id="9" name="图片 8" descr="校院标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9"/>
            <a:srcRect r="54601" b="34252"/>
            <a:stretch>
              <a:fillRect/>
            </a:stretch>
          </p:blipFill>
          <p:spPr>
            <a:xfrm>
              <a:off x="143" y="237"/>
              <a:ext cx="1337" cy="1265"/>
            </a:xfrm>
            <a:prstGeom prst="rect">
              <a:avLst/>
            </a:prstGeom>
          </p:spPr>
        </p:pic>
      </p:grpSp>
      <p:grpSp>
        <p:nvGrpSpPr>
          <p:cNvPr id="15" name="组合 14"/>
          <p:cNvGrpSpPr/>
          <p:nvPr/>
        </p:nvGrpSpPr>
        <p:grpSpPr>
          <a:xfrm>
            <a:off x="2880995" y="337820"/>
            <a:ext cx="7308215" cy="412115"/>
            <a:chOff x="4537" y="532"/>
            <a:chExt cx="11509" cy="649"/>
          </a:xfrm>
        </p:grpSpPr>
        <p:pic>
          <p:nvPicPr>
            <p:cNvPr id="21" name="图片 20" descr="椭圆 3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4537" y="1159"/>
              <a:ext cx="11509" cy="22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3" name="文本框 2"/>
            <p:cNvSpPr txBox="1"/>
            <p:nvPr>
              <p:custDataLst>
                <p:tags r:id="rId3"/>
              </p:custDataLst>
            </p:nvPr>
          </p:nvSpPr>
          <p:spPr>
            <a:xfrm>
              <a:off x="6581" y="532"/>
              <a:ext cx="5965" cy="628"/>
            </a:xfrm>
            <a:prstGeom prst="rect">
              <a:avLst/>
            </a:prstGeom>
            <a:noFill/>
            <a:effectLst>
              <a:softEdge rad="63500"/>
            </a:effectLst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R="0" lvl="0" indent="0" fontAlgn="auto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1" i="0" u="none" strike="noStrike" cap="none" spc="0" normalizeH="0" baseline="0">
                  <a:ln>
                    <a:noFill/>
                  </a:ln>
                  <a:gradFill>
                    <a:gsLst>
                      <a:gs pos="0">
                        <a:srgbClr val="CDA23D"/>
                      </a:gs>
                      <a:gs pos="55000">
                        <a:srgbClr val="E1B64A"/>
                      </a:gs>
                      <a:gs pos="100000">
                        <a:srgbClr val="F7E880">
                          <a:lumMod val="99000"/>
                        </a:srgb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 w="12700">
                    <a:noFill/>
                  </a:ln>
                  <a:solidFill>
                    <a:srgbClr val="F8CEB2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汉仪新人文宋 75W" panose="00020600040101010101" pitchFamily="18" charset="-122"/>
                  <a:ea typeface="汉仪新人文宋 75W" panose="00020600040101010101" pitchFamily="18" charset="-122"/>
                  <a:cs typeface="+mn-ea"/>
                  <a:sym typeface="+mn-lt"/>
                </a:rPr>
                <a:t>SEU Pattern Classification</a:t>
              </a: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781050" y="4346575"/>
            <a:ext cx="8442960" cy="600710"/>
            <a:chOff x="1230" y="6845"/>
            <a:chExt cx="13296" cy="946"/>
          </a:xfrm>
        </p:grpSpPr>
        <p:sp>
          <p:nvSpPr>
            <p:cNvPr id="16" name="文本框 15"/>
            <p:cNvSpPr txBox="1"/>
            <p:nvPr/>
          </p:nvSpPr>
          <p:spPr>
            <a:xfrm>
              <a:off x="1230" y="7161"/>
              <a:ext cx="13296" cy="6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altLang="zh-CN" sz="2000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Team members: 71123329 Jiawen Duan, 71123331 </a:t>
              </a:r>
              <a:r>
                <a:rPr lang="en-US" altLang="zh-CN" sz="2000" dirty="0" err="1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Xirui</a:t>
              </a:r>
              <a:r>
                <a:rPr lang="en-US" altLang="zh-CN" sz="2000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Yang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1378" y="6845"/>
              <a:ext cx="6661" cy="1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0" descr="preencoded.png">
            <a:extLst>
              <a:ext uri="{FF2B5EF4-FFF2-40B4-BE49-F238E27FC236}">
                <a16:creationId xmlns:a16="http://schemas.microsoft.com/office/drawing/2014/main" id="{EA8570F9-2F7B-62D5-A6B9-7BA3C21C0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Image 1" descr="preencoded.png">
            <a:extLst>
              <a:ext uri="{FF2B5EF4-FFF2-40B4-BE49-F238E27FC236}">
                <a16:creationId xmlns:a16="http://schemas.microsoft.com/office/drawing/2014/main" id="{63658210-035F-9695-6842-D107DCC53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3" name="Image 2" descr="preencoded.png">
            <a:extLst>
              <a:ext uri="{FF2B5EF4-FFF2-40B4-BE49-F238E27FC236}">
                <a16:creationId xmlns:a16="http://schemas.microsoft.com/office/drawing/2014/main" id="{A6400EDB-A1DD-02F0-C7E5-B87C5161A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847850"/>
            <a:ext cx="5562600" cy="1219200"/>
          </a:xfrm>
          <a:prstGeom prst="rect">
            <a:avLst/>
          </a:prstGeom>
        </p:spPr>
      </p:pic>
      <p:pic>
        <p:nvPicPr>
          <p:cNvPr id="4" name="Image 3" descr="preencoded.png">
            <a:extLst>
              <a:ext uri="{FF2B5EF4-FFF2-40B4-BE49-F238E27FC236}">
                <a16:creationId xmlns:a16="http://schemas.microsoft.com/office/drawing/2014/main" id="{FA2A72E4-E7BF-37A3-A2E5-4065EA782E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2076450"/>
            <a:ext cx="228600" cy="304800"/>
          </a:xfrm>
          <a:prstGeom prst="rect">
            <a:avLst/>
          </a:prstGeom>
        </p:spPr>
      </p:pic>
      <p:pic>
        <p:nvPicPr>
          <p:cNvPr id="5" name="Image 4" descr="preencoded.png">
            <a:extLst>
              <a:ext uri="{FF2B5EF4-FFF2-40B4-BE49-F238E27FC236}">
                <a16:creationId xmlns:a16="http://schemas.microsoft.com/office/drawing/2014/main" id="{3794897E-7749-F6F3-7979-E3F93BA4B0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3181350"/>
            <a:ext cx="5562600" cy="1162050"/>
          </a:xfrm>
          <a:prstGeom prst="rect">
            <a:avLst/>
          </a:prstGeom>
        </p:spPr>
      </p:pic>
      <p:pic>
        <p:nvPicPr>
          <p:cNvPr id="6" name="Image 5" descr="preencoded.png">
            <a:extLst>
              <a:ext uri="{FF2B5EF4-FFF2-40B4-BE49-F238E27FC236}">
                <a16:creationId xmlns:a16="http://schemas.microsoft.com/office/drawing/2014/main" id="{520227F7-6A50-A269-6E9F-06D5F6258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409950"/>
            <a:ext cx="200025" cy="304800"/>
          </a:xfrm>
          <a:prstGeom prst="rect">
            <a:avLst/>
          </a:prstGeom>
        </p:spPr>
      </p:pic>
      <p:pic>
        <p:nvPicPr>
          <p:cNvPr id="7" name="Image 6" descr="preencoded.png">
            <a:extLst>
              <a:ext uri="{FF2B5EF4-FFF2-40B4-BE49-F238E27FC236}">
                <a16:creationId xmlns:a16="http://schemas.microsoft.com/office/drawing/2014/main" id="{5D9253AD-700B-F4B8-AE63-034850D9D3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4514850"/>
            <a:ext cx="5562600" cy="1257300"/>
          </a:xfrm>
          <a:prstGeom prst="rect">
            <a:avLst/>
          </a:prstGeom>
        </p:spPr>
      </p:pic>
      <p:pic>
        <p:nvPicPr>
          <p:cNvPr id="8" name="Image 7" descr="preencoded.png">
            <a:extLst>
              <a:ext uri="{FF2B5EF4-FFF2-40B4-BE49-F238E27FC236}">
                <a16:creationId xmlns:a16="http://schemas.microsoft.com/office/drawing/2014/main" id="{112022E5-9A40-84EF-E28B-F24622AAEE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743450"/>
            <a:ext cx="228600" cy="304800"/>
          </a:xfrm>
          <a:prstGeom prst="rect">
            <a:avLst/>
          </a:prstGeom>
        </p:spPr>
      </p:pic>
      <p:pic>
        <p:nvPicPr>
          <p:cNvPr id="9" name="Image 8" descr="preencoded.png">
            <a:extLst>
              <a:ext uri="{FF2B5EF4-FFF2-40B4-BE49-F238E27FC236}">
                <a16:creationId xmlns:a16="http://schemas.microsoft.com/office/drawing/2014/main" id="{B6076088-DA4A-9C5C-BB76-EB8781A9EA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1733550"/>
            <a:ext cx="5562600" cy="4152900"/>
          </a:xfrm>
          <a:prstGeom prst="rect">
            <a:avLst/>
          </a:prstGeom>
        </p:spPr>
      </p:pic>
      <p:pic>
        <p:nvPicPr>
          <p:cNvPr id="10" name="Image 9" descr="preencoded.png">
            <a:extLst>
              <a:ext uri="{FF2B5EF4-FFF2-40B4-BE49-F238E27FC236}">
                <a16:creationId xmlns:a16="http://schemas.microsoft.com/office/drawing/2014/main" id="{C12AA55E-DBBA-B879-1242-43BA6565ED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2381250"/>
            <a:ext cx="457200" cy="457200"/>
          </a:xfrm>
          <a:prstGeom prst="rect">
            <a:avLst/>
          </a:prstGeom>
        </p:spPr>
      </p:pic>
      <p:pic>
        <p:nvPicPr>
          <p:cNvPr id="11" name="Image 10" descr="preencoded.png">
            <a:extLst>
              <a:ext uri="{FF2B5EF4-FFF2-40B4-BE49-F238E27FC236}">
                <a16:creationId xmlns:a16="http://schemas.microsoft.com/office/drawing/2014/main" id="{66FCBFBC-0546-30A5-16E8-F916F6E7C1D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0350" y="2533650"/>
            <a:ext cx="190500" cy="152400"/>
          </a:xfrm>
          <a:prstGeom prst="rect">
            <a:avLst/>
          </a:prstGeom>
        </p:spPr>
      </p:pic>
      <p:pic>
        <p:nvPicPr>
          <p:cNvPr id="12" name="Image 11" descr="preencoded.png">
            <a:extLst>
              <a:ext uri="{FF2B5EF4-FFF2-40B4-BE49-F238E27FC236}">
                <a16:creationId xmlns:a16="http://schemas.microsoft.com/office/drawing/2014/main" id="{D4221A9F-39BF-1C0E-0B4E-D2C41AAD0CB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2990850"/>
            <a:ext cx="457200" cy="457200"/>
          </a:xfrm>
          <a:prstGeom prst="rect">
            <a:avLst/>
          </a:prstGeom>
        </p:spPr>
      </p:pic>
      <p:pic>
        <p:nvPicPr>
          <p:cNvPr id="13" name="Image 12" descr="preencoded.png">
            <a:extLst>
              <a:ext uri="{FF2B5EF4-FFF2-40B4-BE49-F238E27FC236}">
                <a16:creationId xmlns:a16="http://schemas.microsoft.com/office/drawing/2014/main" id="{6FCF988E-94E8-852C-1E08-9D99DA51263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10350" y="3143250"/>
            <a:ext cx="190500" cy="152400"/>
          </a:xfrm>
          <a:prstGeom prst="rect">
            <a:avLst/>
          </a:prstGeom>
        </p:spPr>
      </p:pic>
      <p:pic>
        <p:nvPicPr>
          <p:cNvPr id="14" name="Image 13" descr="preencoded.png">
            <a:extLst>
              <a:ext uri="{FF2B5EF4-FFF2-40B4-BE49-F238E27FC236}">
                <a16:creationId xmlns:a16="http://schemas.microsoft.com/office/drawing/2014/main" id="{1D7D8E35-E0AE-2095-2027-DB3BD809A54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3600450"/>
            <a:ext cx="457200" cy="457200"/>
          </a:xfrm>
          <a:prstGeom prst="rect">
            <a:avLst/>
          </a:prstGeom>
        </p:spPr>
      </p:pic>
      <p:pic>
        <p:nvPicPr>
          <p:cNvPr id="15" name="Image 14" descr="preencoded.png">
            <a:extLst>
              <a:ext uri="{FF2B5EF4-FFF2-40B4-BE49-F238E27FC236}">
                <a16:creationId xmlns:a16="http://schemas.microsoft.com/office/drawing/2014/main" id="{70B7E859-3680-9EBD-A10D-DFFC13B515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29400" y="3752850"/>
            <a:ext cx="152400" cy="152400"/>
          </a:xfrm>
          <a:prstGeom prst="rect">
            <a:avLst/>
          </a:prstGeom>
        </p:spPr>
      </p:pic>
      <p:pic>
        <p:nvPicPr>
          <p:cNvPr id="16" name="Image 15" descr="preencoded.png">
            <a:extLst>
              <a:ext uri="{FF2B5EF4-FFF2-40B4-BE49-F238E27FC236}">
                <a16:creationId xmlns:a16="http://schemas.microsoft.com/office/drawing/2014/main" id="{8C099A16-9646-D7A5-3745-48A827AD7D8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4210050"/>
            <a:ext cx="457200" cy="457200"/>
          </a:xfrm>
          <a:prstGeom prst="rect">
            <a:avLst/>
          </a:prstGeom>
        </p:spPr>
      </p:pic>
      <p:pic>
        <p:nvPicPr>
          <p:cNvPr id="17" name="Image 16" descr="preencoded.png">
            <a:extLst>
              <a:ext uri="{FF2B5EF4-FFF2-40B4-BE49-F238E27FC236}">
                <a16:creationId xmlns:a16="http://schemas.microsoft.com/office/drawing/2014/main" id="{C2195820-7DB8-0B06-1980-AF4B861CC3F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4895850"/>
            <a:ext cx="5105400" cy="762000"/>
          </a:xfrm>
          <a:prstGeom prst="rect">
            <a:avLst/>
          </a:prstGeom>
        </p:spPr>
      </p:pic>
      <p:pic>
        <p:nvPicPr>
          <p:cNvPr id="18" name="Image 17" descr="preencoded.png">
            <a:extLst>
              <a:ext uri="{FF2B5EF4-FFF2-40B4-BE49-F238E27FC236}">
                <a16:creationId xmlns:a16="http://schemas.microsoft.com/office/drawing/2014/main" id="{2D4D4135-D8D6-0A48-BD45-C2D97BECF61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5353050"/>
            <a:ext cx="5105400" cy="304800"/>
          </a:xfrm>
          <a:prstGeom prst="rect">
            <a:avLst/>
          </a:prstGeom>
        </p:spPr>
      </p:pic>
      <p:pic>
        <p:nvPicPr>
          <p:cNvPr id="19" name="Image 18" descr="preencoded.png">
            <a:extLst>
              <a:ext uri="{FF2B5EF4-FFF2-40B4-BE49-F238E27FC236}">
                <a16:creationId xmlns:a16="http://schemas.microsoft.com/office/drawing/2014/main" id="{7B51F4DE-C5AF-CE74-23BA-8F61B1F49DD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77000" y="5353050"/>
            <a:ext cx="3573661" cy="3048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2DBA8A1C-F668-ADA0-2508-2EC4F7B1590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 and Problem Statement</a:t>
            </a:r>
            <a:endParaRPr lang="en-US" sz="27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29C03106-E16E-6F29-7AB2-B92BD5B5B4CC}"/>
              </a:ext>
            </a:extLst>
          </p:cNvPr>
          <p:cNvSpPr/>
          <p:nvPr/>
        </p:nvSpPr>
        <p:spPr>
          <a:xfrm>
            <a:off x="952499" y="2095500"/>
            <a:ext cx="2676071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attendance time</a:t>
            </a:r>
            <a:endParaRPr lang="en-US" sz="15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D3465D6C-1338-C60C-0210-E9431CC45DB4}"/>
              </a:ext>
            </a:extLst>
          </p:cNvPr>
          <p:cNvSpPr/>
          <p:nvPr/>
        </p:nvSpPr>
        <p:spPr>
          <a:xfrm>
            <a:off x="609600" y="2495550"/>
            <a:ext cx="518885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roll call takes an average of 5-10 minutes, accumulating to about 2 class periods wasted per semester.</a:t>
            </a:r>
            <a:endParaRPr lang="en-US" sz="12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291BCE4E-62C7-D1ED-6740-5CF7A214C4B7}"/>
              </a:ext>
            </a:extLst>
          </p:cNvPr>
          <p:cNvSpPr/>
          <p:nvPr/>
        </p:nvSpPr>
        <p:spPr>
          <a:xfrm>
            <a:off x="923924" y="3429000"/>
            <a:ext cx="44100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phenomenon of proxy answers is serious</a:t>
            </a:r>
            <a:endParaRPr lang="en-US" sz="15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15FD22C6-2FDD-B585-B5B0-4276005C1DA7}"/>
              </a:ext>
            </a:extLst>
          </p:cNvPr>
          <p:cNvSpPr/>
          <p:nvPr/>
        </p:nvSpPr>
        <p:spPr>
          <a:xfrm>
            <a:off x="609600" y="3829050"/>
            <a:ext cx="5185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commonly engage in "proxy answering" behavior, making it difficult for teachers to accurately determine true attendance.</a:t>
            </a:r>
            <a:endParaRPr lang="en-US" sz="12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353F59C2-286E-65BA-FC45-492824AE6915}"/>
              </a:ext>
            </a:extLst>
          </p:cNvPr>
          <p:cNvSpPr/>
          <p:nvPr/>
        </p:nvSpPr>
        <p:spPr>
          <a:xfrm>
            <a:off x="952499" y="4762500"/>
            <a:ext cx="2494643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system limitations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EC9629B8-58D1-2102-24A8-E3801F358B49}"/>
              </a:ext>
            </a:extLst>
          </p:cNvPr>
          <p:cNvSpPr/>
          <p:nvPr/>
        </p:nvSpPr>
        <p:spPr>
          <a:xfrm>
            <a:off x="609600" y="5162550"/>
            <a:ext cx="5334000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open-source facial recognition attendance systems have a recognition rate of less than 70% in complex classroom environments.</a:t>
            </a:r>
            <a:endParaRPr lang="en-US" sz="12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B7415565-06C0-7CC1-8A41-9FAF18D02ABD}"/>
              </a:ext>
            </a:extLst>
          </p:cNvPr>
          <p:cNvSpPr/>
          <p:nvPr/>
        </p:nvSpPr>
        <p:spPr>
          <a:xfrm>
            <a:off x="6477000" y="1962150"/>
            <a:ext cx="5105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environment challenges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687ECA6E-8C29-5A10-359C-53F05DE5A675}"/>
              </a:ext>
            </a:extLst>
          </p:cNvPr>
          <p:cNvSpPr/>
          <p:nvPr/>
        </p:nvSpPr>
        <p:spPr>
          <a:xfrm>
            <a:off x="7086600" y="2400300"/>
            <a:ext cx="1866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Multiplayer overlaps</a:t>
            </a:r>
            <a:endParaRPr lang="en-US" sz="12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5F39FAA0-727D-0AEF-A487-34E58AB420C2}"/>
              </a:ext>
            </a:extLst>
          </p:cNvPr>
          <p:cNvSpPr/>
          <p:nvPr/>
        </p:nvSpPr>
        <p:spPr>
          <a:xfrm>
            <a:off x="7086599" y="2628900"/>
            <a:ext cx="4169229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group photo, middle school students have a variety of postures and block each other</a:t>
            </a:r>
            <a:endParaRPr lang="en-US" sz="105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EC22B5D1-F00C-F6BB-5DAB-78AB86E5C45A}"/>
              </a:ext>
            </a:extLst>
          </p:cNvPr>
          <p:cNvSpPr/>
          <p:nvPr/>
        </p:nvSpPr>
        <p:spPr>
          <a:xfrm>
            <a:off x="7086600" y="3009900"/>
            <a:ext cx="2400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face and bowed head</a:t>
            </a:r>
            <a:endParaRPr lang="en-US" sz="12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4F0DC70D-59A3-5C91-CC1D-9072599A0F56}"/>
              </a:ext>
            </a:extLst>
          </p:cNvPr>
          <p:cNvSpPr/>
          <p:nvPr/>
        </p:nvSpPr>
        <p:spPr>
          <a:xfrm>
            <a:off x="7086600" y="3238500"/>
            <a:ext cx="4169228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often face sideways, bow their heads, turn their heads and other non-standard postures</a:t>
            </a:r>
            <a:endParaRPr lang="en-US" sz="1050" dirty="0"/>
          </a:p>
        </p:txBody>
      </p:sp>
      <p:sp>
        <p:nvSpPr>
          <p:cNvPr id="32" name="Text 12">
            <a:extLst>
              <a:ext uri="{FF2B5EF4-FFF2-40B4-BE49-F238E27FC236}">
                <a16:creationId xmlns:a16="http://schemas.microsoft.com/office/drawing/2014/main" id="{AE0D9D86-6066-9B13-BB20-440A792672BC}"/>
              </a:ext>
            </a:extLst>
          </p:cNvPr>
          <p:cNvSpPr/>
          <p:nvPr/>
        </p:nvSpPr>
        <p:spPr>
          <a:xfrm>
            <a:off x="7086600" y="3619500"/>
            <a:ext cx="2266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Uneven lighting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193D41EF-7B21-683D-82F1-A1C64406EAD8}"/>
              </a:ext>
            </a:extLst>
          </p:cNvPr>
          <p:cNvSpPr/>
          <p:nvPr/>
        </p:nvSpPr>
        <p:spPr>
          <a:xfrm>
            <a:off x="7086600" y="3848100"/>
            <a:ext cx="3900714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lighting conditions such as window backlight and projector reflection</a:t>
            </a:r>
            <a:endParaRPr lang="en-US" sz="1050" dirty="0"/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20A9C69B-F226-D2AA-1299-6099EEDBC7D9}"/>
              </a:ext>
            </a:extLst>
          </p:cNvPr>
          <p:cNvSpPr/>
          <p:nvPr/>
        </p:nvSpPr>
        <p:spPr>
          <a:xfrm>
            <a:off x="7086600" y="4229100"/>
            <a:ext cx="2266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occlusion</a:t>
            </a:r>
            <a:endParaRPr lang="en-US" sz="1200" dirty="0"/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D13B2F0C-2AE1-F5B7-D569-E06549861D8E}"/>
              </a:ext>
            </a:extLst>
          </p:cNvPr>
          <p:cNvSpPr/>
          <p:nvPr/>
        </p:nvSpPr>
        <p:spPr>
          <a:xfrm>
            <a:off x="7086600" y="4457700"/>
            <a:ext cx="3516086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wearing masks, hair covering eyes, wearing hats and other covering situations</a:t>
            </a:r>
            <a:endParaRPr lang="en-US" sz="1050" dirty="0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BA1DE195-9F22-0697-B8D6-CD591A9CFD41}"/>
              </a:ext>
            </a:extLst>
          </p:cNvPr>
          <p:cNvSpPr/>
          <p:nvPr/>
        </p:nvSpPr>
        <p:spPr>
          <a:xfrm>
            <a:off x="6477000" y="5029200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performance of existing systems in real classroom environments:</a:t>
            </a:r>
            <a:endParaRPr lang="en-US" sz="12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78368EA-2EC2-D966-A551-F4BD07ECD0DB}"/>
              </a:ext>
            </a:extLst>
          </p:cNvPr>
          <p:cNvSpPr/>
          <p:nvPr/>
        </p:nvSpPr>
        <p:spPr>
          <a:xfrm>
            <a:off x="8599714" y="5410200"/>
            <a:ext cx="150044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rate &lt; 70%</a:t>
            </a:r>
            <a:endParaRPr lang="en-US" sz="1050" dirty="0"/>
          </a:p>
        </p:txBody>
      </p:sp>
      <p:sp>
        <p:nvSpPr>
          <p:cNvPr id="38" name="Text 18">
            <a:extLst>
              <a:ext uri="{FF2B5EF4-FFF2-40B4-BE49-F238E27FC236}">
                <a16:creationId xmlns:a16="http://schemas.microsoft.com/office/drawing/2014/main" id="{1876337E-C49E-B087-BE36-20B82FFC01B6}"/>
              </a:ext>
            </a:extLst>
          </p:cNvPr>
          <p:cNvSpPr/>
          <p:nvPr/>
        </p:nvSpPr>
        <p:spPr>
          <a:xfrm>
            <a:off x="6591300" y="5410200"/>
            <a:ext cx="9271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system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023316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905000"/>
            <a:ext cx="6766471" cy="952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2152650"/>
            <a:ext cx="420737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969" y="2305050"/>
            <a:ext cx="17145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3009900"/>
            <a:ext cx="6766471" cy="914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162300"/>
            <a:ext cx="457200" cy="457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6750" y="3314700"/>
            <a:ext cx="1905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4038600"/>
            <a:ext cx="6766471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4191000"/>
            <a:ext cx="4572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25" y="4343400"/>
            <a:ext cx="13335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" y="4980214"/>
            <a:ext cx="6766471" cy="901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5132614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5800" y="5285014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76071" y="1905000"/>
            <a:ext cx="2160240" cy="8001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13241" y="2019300"/>
            <a:ext cx="28575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50611" y="1905000"/>
            <a:ext cx="2160389" cy="800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616505" y="2019300"/>
            <a:ext cx="2286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76071" y="2819400"/>
            <a:ext cx="2160240" cy="8001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13241" y="2933700"/>
            <a:ext cx="285750" cy="3048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650611" y="2819400"/>
            <a:ext cx="2160389" cy="8001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616505" y="2933700"/>
            <a:ext cx="228600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76071" y="3848100"/>
            <a:ext cx="4434929" cy="21717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28471" y="4419600"/>
            <a:ext cx="304800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5621" y="4495800"/>
            <a:ext cx="1905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528471" y="4953000"/>
            <a:ext cx="304800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623721" y="5029200"/>
            <a:ext cx="1143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528471" y="5486400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604671" y="5562600"/>
            <a:ext cx="152400" cy="1524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design of the system</a:t>
            </a:r>
            <a:endParaRPr lang="en-US" sz="2700" dirty="0"/>
          </a:p>
        </p:txBody>
      </p:sp>
      <p:sp>
        <p:nvSpPr>
          <p:cNvPr id="33" name="Text 1"/>
          <p:cNvSpPr/>
          <p:nvPr/>
        </p:nvSpPr>
        <p:spPr>
          <a:xfrm>
            <a:off x="381000" y="1447800"/>
            <a:ext cx="67664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800" dirty="0"/>
          </a:p>
        </p:txBody>
      </p:sp>
      <p:sp>
        <p:nvSpPr>
          <p:cNvPr id="34" name="Text 2"/>
          <p:cNvSpPr/>
          <p:nvPr/>
        </p:nvSpPr>
        <p:spPr>
          <a:xfrm>
            <a:off x="1106537" y="2057400"/>
            <a:ext cx="5888534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end layer</a:t>
            </a:r>
            <a:endParaRPr lang="en-US" sz="1350" dirty="0"/>
          </a:p>
        </p:txBody>
      </p:sp>
      <p:sp>
        <p:nvSpPr>
          <p:cNvPr id="35" name="Text 3"/>
          <p:cNvSpPr/>
          <p:nvPr/>
        </p:nvSpPr>
        <p:spPr>
          <a:xfrm>
            <a:off x="1106536" y="2324100"/>
            <a:ext cx="5954663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 err="1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provides a beautiful and responsive web management interface that supports class selection, student management, photo upload, real-time recognition of progress and result display</a:t>
            </a:r>
            <a:endParaRPr lang="en-US" sz="1050" dirty="0"/>
          </a:p>
        </p:txBody>
      </p:sp>
      <p:sp>
        <p:nvSpPr>
          <p:cNvPr id="36" name="Text 4"/>
          <p:cNvSpPr/>
          <p:nvPr/>
        </p:nvSpPr>
        <p:spPr>
          <a:xfrm>
            <a:off x="1143000" y="3162300"/>
            <a:ext cx="4015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 layer</a:t>
            </a:r>
            <a:endParaRPr lang="en-US" sz="1350" dirty="0"/>
          </a:p>
        </p:txBody>
      </p:sp>
      <p:sp>
        <p:nvSpPr>
          <p:cNvPr id="37" name="Text 5"/>
          <p:cNvSpPr/>
          <p:nvPr/>
        </p:nvSpPr>
        <p:spPr>
          <a:xfrm>
            <a:off x="1143000" y="3429000"/>
            <a:ext cx="543832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core module, responsible for process scheduling, database operation, recognition result merging and deduplication</a:t>
            </a:r>
            <a:endParaRPr lang="en-US" sz="1050" dirty="0"/>
          </a:p>
        </p:txBody>
      </p:sp>
      <p:sp>
        <p:nvSpPr>
          <p:cNvPr id="38" name="Text 6"/>
          <p:cNvSpPr/>
          <p:nvPr/>
        </p:nvSpPr>
        <p:spPr>
          <a:xfrm>
            <a:off x="1143000" y="4191000"/>
            <a:ext cx="294143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persistence layer</a:t>
            </a:r>
            <a:endParaRPr lang="en-US" sz="1350" dirty="0"/>
          </a:p>
        </p:txBody>
      </p:sp>
      <p:sp>
        <p:nvSpPr>
          <p:cNvPr id="39" name="Text 7"/>
          <p:cNvSpPr/>
          <p:nvPr/>
        </p:nvSpPr>
        <p:spPr>
          <a:xfrm>
            <a:off x="1143000" y="4457699"/>
            <a:ext cx="5735538" cy="2666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lightweight embedded database with zero configuration and single-file deployment</a:t>
            </a:r>
            <a:endParaRPr lang="en-US" sz="1050" dirty="0"/>
          </a:p>
        </p:txBody>
      </p:sp>
      <p:sp>
        <p:nvSpPr>
          <p:cNvPr id="40" name="Text 8"/>
          <p:cNvSpPr/>
          <p:nvPr/>
        </p:nvSpPr>
        <p:spPr>
          <a:xfrm>
            <a:off x="1143000" y="5132614"/>
            <a:ext cx="477961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layer</a:t>
            </a:r>
            <a:endParaRPr lang="en-US" sz="1350" dirty="0"/>
          </a:p>
        </p:txBody>
      </p:sp>
      <p:sp>
        <p:nvSpPr>
          <p:cNvPr id="41" name="Text 9"/>
          <p:cNvSpPr/>
          <p:nvPr/>
        </p:nvSpPr>
        <p:spPr>
          <a:xfrm>
            <a:off x="1143000" y="5399314"/>
            <a:ext cx="57355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 is responsible for image enhancement and preprocessing, </a:t>
            </a:r>
            <a:r>
              <a:rPr lang="en-US" sz="1050" dirty="0" err="1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face_recognition</a:t>
            </a: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face detection and 128-dimensional feature extraction</a:t>
            </a:r>
            <a:endParaRPr lang="en-US" sz="1050" dirty="0"/>
          </a:p>
        </p:txBody>
      </p:sp>
      <p:sp>
        <p:nvSpPr>
          <p:cNvPr id="42" name="Text 10"/>
          <p:cNvSpPr/>
          <p:nvPr/>
        </p:nvSpPr>
        <p:spPr>
          <a:xfrm>
            <a:off x="7376071" y="1447800"/>
            <a:ext cx="443492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800" dirty="0"/>
          </a:p>
        </p:txBody>
      </p:sp>
      <p:sp>
        <p:nvSpPr>
          <p:cNvPr id="43" name="Text 11"/>
          <p:cNvSpPr/>
          <p:nvPr/>
        </p:nvSpPr>
        <p:spPr>
          <a:xfrm>
            <a:off x="8248501" y="2400300"/>
            <a:ext cx="49827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050" dirty="0"/>
          </a:p>
        </p:txBody>
      </p:sp>
      <p:sp>
        <p:nvSpPr>
          <p:cNvPr id="44" name="Text 12"/>
          <p:cNvSpPr/>
          <p:nvPr/>
        </p:nvSpPr>
        <p:spPr>
          <a:xfrm>
            <a:off x="10474970" y="2400300"/>
            <a:ext cx="61382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OpenCV</a:t>
            </a:r>
            <a:endParaRPr lang="en-US" sz="1050" dirty="0"/>
          </a:p>
        </p:txBody>
      </p:sp>
      <p:sp>
        <p:nvSpPr>
          <p:cNvPr id="45" name="Text 13"/>
          <p:cNvSpPr/>
          <p:nvPr/>
        </p:nvSpPr>
        <p:spPr>
          <a:xfrm>
            <a:off x="7966770" y="3314700"/>
            <a:ext cx="117443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face_recognition</a:t>
            </a:r>
            <a:endParaRPr lang="en-US" sz="1050" dirty="0"/>
          </a:p>
        </p:txBody>
      </p:sp>
      <p:sp>
        <p:nvSpPr>
          <p:cNvPr id="46" name="Text 14"/>
          <p:cNvSpPr/>
          <p:nvPr/>
        </p:nvSpPr>
        <p:spPr>
          <a:xfrm>
            <a:off x="10526911" y="3314700"/>
            <a:ext cx="48934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050" dirty="0"/>
          </a:p>
        </p:txBody>
      </p:sp>
      <p:sp>
        <p:nvSpPr>
          <p:cNvPr id="47" name="Text 15"/>
          <p:cNvSpPr/>
          <p:nvPr/>
        </p:nvSpPr>
        <p:spPr>
          <a:xfrm>
            <a:off x="7528471" y="4000500"/>
            <a:ext cx="413012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strengths</a:t>
            </a:r>
            <a:endParaRPr lang="en-US" sz="1500" dirty="0"/>
          </a:p>
        </p:txBody>
      </p:sp>
      <p:sp>
        <p:nvSpPr>
          <p:cNvPr id="48" name="Text 16"/>
          <p:cNvSpPr/>
          <p:nvPr/>
        </p:nvSpPr>
        <p:spPr>
          <a:xfrm>
            <a:off x="7947571" y="4381500"/>
            <a:ext cx="2000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hardware costs</a:t>
            </a:r>
            <a:endParaRPr lang="en-US" sz="1200" dirty="0"/>
          </a:p>
        </p:txBody>
      </p:sp>
      <p:sp>
        <p:nvSpPr>
          <p:cNvPr id="49" name="Text 17"/>
          <p:cNvSpPr/>
          <p:nvPr/>
        </p:nvSpPr>
        <p:spPr>
          <a:xfrm>
            <a:off x="7947571" y="4610100"/>
            <a:ext cx="343888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regular laptop, pure software deployment</a:t>
            </a:r>
            <a:endParaRPr lang="en-US" sz="1050" dirty="0"/>
          </a:p>
        </p:txBody>
      </p:sp>
      <p:sp>
        <p:nvSpPr>
          <p:cNvPr id="50" name="Text 18"/>
          <p:cNvSpPr/>
          <p:nvPr/>
        </p:nvSpPr>
        <p:spPr>
          <a:xfrm>
            <a:off x="7947571" y="4914900"/>
            <a:ext cx="1385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efficiency</a:t>
            </a:r>
            <a:endParaRPr lang="en-US" sz="1200" dirty="0"/>
          </a:p>
        </p:txBody>
      </p:sp>
      <p:sp>
        <p:nvSpPr>
          <p:cNvPr id="51" name="Text 19"/>
          <p:cNvSpPr/>
          <p:nvPr/>
        </p:nvSpPr>
        <p:spPr>
          <a:xfrm>
            <a:off x="7947570" y="5143500"/>
            <a:ext cx="371102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processing time for a single lesson is only 8.7 seconds</a:t>
            </a:r>
            <a:endParaRPr lang="en-US" sz="1050" dirty="0"/>
          </a:p>
        </p:txBody>
      </p:sp>
      <p:sp>
        <p:nvSpPr>
          <p:cNvPr id="52" name="Text 20"/>
          <p:cNvSpPr/>
          <p:nvPr/>
        </p:nvSpPr>
        <p:spPr>
          <a:xfrm>
            <a:off x="7947571" y="5448300"/>
            <a:ext cx="208984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accuracy</a:t>
            </a:r>
            <a:endParaRPr lang="en-US" sz="1200" dirty="0"/>
          </a:p>
        </p:txBody>
      </p:sp>
      <p:sp>
        <p:nvSpPr>
          <p:cNvPr id="53" name="Text 21"/>
          <p:cNvSpPr/>
          <p:nvPr/>
        </p:nvSpPr>
        <p:spPr>
          <a:xfrm>
            <a:off x="7947571" y="5676900"/>
            <a:ext cx="3518715" cy="20501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of F1 score of 88.9%, accuracy of 90.0%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1214665"/>
            <a:ext cx="3657600" cy="3495674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0" y="1367065"/>
            <a:ext cx="381000" cy="381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4375" y="1481365"/>
            <a:ext cx="17145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1843315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2110015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9600" y="2608944"/>
            <a:ext cx="762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3011261"/>
            <a:ext cx="3352800" cy="1524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1214665"/>
            <a:ext cx="3657600" cy="3495674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800" y="1367065"/>
            <a:ext cx="381000" cy="381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0100" y="1481365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5800" y="192314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5800" y="2371268"/>
            <a:ext cx="762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2940" y="2860668"/>
            <a:ext cx="762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5038725"/>
            <a:ext cx="11430000" cy="12573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5553075"/>
            <a:ext cx="4984700" cy="3810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5553075"/>
            <a:ext cx="3409504" cy="381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518100" y="5553075"/>
            <a:ext cx="4984700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18100" y="5553075"/>
            <a:ext cx="4820096" cy="3810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75888" y="5686425"/>
            <a:ext cx="200025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49000" y="5534025"/>
            <a:ext cx="609600" cy="609600"/>
          </a:xfrm>
          <a:prstGeom prst="rect">
            <a:avLst/>
          </a:prstGeom>
        </p:spPr>
      </p:pic>
      <p:sp>
        <p:nvSpPr>
          <p:cNvPr id="3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algorithm innovation</a:t>
            </a:r>
            <a:endParaRPr lang="en-US" sz="2700" dirty="0"/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3073B27-7AD5-B0FF-9901-8F879D602631}"/>
              </a:ext>
            </a:extLst>
          </p:cNvPr>
          <p:cNvGrpSpPr/>
          <p:nvPr/>
        </p:nvGrpSpPr>
        <p:grpSpPr>
          <a:xfrm>
            <a:off x="491671" y="1203780"/>
            <a:ext cx="3657600" cy="3495675"/>
            <a:chOff x="381000" y="1214664"/>
            <a:chExt cx="3657600" cy="3495675"/>
          </a:xfrm>
        </p:grpSpPr>
        <p:pic>
          <p:nvPicPr>
            <p:cNvPr id="4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1000" y="1214664"/>
              <a:ext cx="3657600" cy="3495675"/>
            </a:xfrm>
            <a:prstGeom prst="rect">
              <a:avLst/>
            </a:prstGeom>
          </p:spPr>
        </p:pic>
        <p:pic>
          <p:nvPicPr>
            <p:cNvPr id="5" name="Image 3" descr="preencoded.png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33400" y="1367065"/>
              <a:ext cx="381000" cy="381000"/>
            </a:xfrm>
            <a:prstGeom prst="rect">
              <a:avLst/>
            </a:prstGeom>
          </p:spPr>
        </p:pic>
        <p:pic>
          <p:nvPicPr>
            <p:cNvPr id="6" name="Image 4" descr="preencoded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47700" y="1481365"/>
              <a:ext cx="152400" cy="152400"/>
            </a:xfrm>
            <a:prstGeom prst="rect">
              <a:avLst/>
            </a:prstGeom>
          </p:spPr>
        </p:pic>
        <p:pic>
          <p:nvPicPr>
            <p:cNvPr id="7" name="Image 5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3400" y="1843315"/>
              <a:ext cx="76200" cy="152400"/>
            </a:xfrm>
            <a:prstGeom prst="rect">
              <a:avLst/>
            </a:prstGeom>
          </p:spPr>
        </p:pic>
        <p:pic>
          <p:nvPicPr>
            <p:cNvPr id="8" name="Image 6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3400" y="2110015"/>
              <a:ext cx="76200" cy="152400"/>
            </a:xfrm>
            <a:prstGeom prst="rect">
              <a:avLst/>
            </a:prstGeom>
          </p:spPr>
        </p:pic>
        <p:pic>
          <p:nvPicPr>
            <p:cNvPr id="9" name="Image 7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3400" y="2376715"/>
              <a:ext cx="76200" cy="152400"/>
            </a:xfrm>
            <a:prstGeom prst="rect">
              <a:avLst/>
            </a:prstGeom>
          </p:spPr>
        </p:pic>
        <p:pic>
          <p:nvPicPr>
            <p:cNvPr id="10" name="Image 8" descr="preencoded.png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533400" y="2900590"/>
              <a:ext cx="3352800" cy="1676400"/>
            </a:xfrm>
            <a:prstGeom prst="rect">
              <a:avLst/>
            </a:prstGeom>
          </p:spPr>
        </p:pic>
        <p:sp>
          <p:nvSpPr>
            <p:cNvPr id="33" name="Text 1"/>
            <p:cNvSpPr/>
            <p:nvPr/>
          </p:nvSpPr>
          <p:spPr>
            <a:xfrm>
              <a:off x="1028700" y="1424215"/>
              <a:ext cx="2667000" cy="304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>
                <a:lnSpc>
                  <a:spcPts val="2100"/>
                </a:lnSpc>
              </a:pPr>
              <a:r>
                <a:rPr lang="en-US" sz="1500" b="1" dirty="0">
                  <a:solidFill>
                    <a:srgbClr val="1F2937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Triple detection mechanism</a:t>
              </a:r>
              <a:endParaRPr lang="en-US" sz="1500" dirty="0"/>
            </a:p>
          </p:txBody>
        </p:sp>
        <p:sp>
          <p:nvSpPr>
            <p:cNvPr id="34" name="Text 2"/>
            <p:cNvSpPr/>
            <p:nvPr/>
          </p:nvSpPr>
          <p:spPr>
            <a:xfrm>
              <a:off x="495300" y="1824265"/>
              <a:ext cx="35433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342900" indent="-342900">
                <a:lnSpc>
                  <a:spcPts val="18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4B556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First layer: HOG rapid detection</a:t>
              </a:r>
              <a:endParaRPr lang="en-US" sz="1200" dirty="0"/>
            </a:p>
          </p:txBody>
        </p:sp>
        <p:sp>
          <p:nvSpPr>
            <p:cNvPr id="35" name="Text 3"/>
            <p:cNvSpPr/>
            <p:nvPr/>
          </p:nvSpPr>
          <p:spPr>
            <a:xfrm>
              <a:off x="495300" y="2090965"/>
              <a:ext cx="3543300" cy="2286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342900" indent="-342900">
                <a:lnSpc>
                  <a:spcPts val="18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4B556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The second layer: CNN accurate detection</a:t>
              </a:r>
              <a:endParaRPr lang="en-US" sz="1200" dirty="0"/>
            </a:p>
          </p:txBody>
        </p:sp>
        <p:sp>
          <p:nvSpPr>
            <p:cNvPr id="36" name="Text 4"/>
            <p:cNvSpPr/>
            <p:nvPr/>
          </p:nvSpPr>
          <p:spPr>
            <a:xfrm>
              <a:off x="495300" y="2357665"/>
              <a:ext cx="3444240" cy="3048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342900" indent="-342900">
                <a:lnSpc>
                  <a:spcPts val="1800"/>
                </a:lnSpc>
                <a:buSzPct val="100000"/>
                <a:buChar char="•"/>
              </a:pPr>
              <a:r>
                <a:rPr lang="en-US" sz="1200" dirty="0">
                  <a:solidFill>
                    <a:srgbClr val="4B556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Third: Image enhancement + multi-fold </a:t>
              </a:r>
              <a:r>
                <a:rPr lang="en-US" sz="1200" dirty="0" err="1">
                  <a:solidFill>
                    <a:srgbClr val="4B556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upsampling</a:t>
              </a:r>
              <a:endParaRPr lang="en-US" sz="1200" dirty="0"/>
            </a:p>
          </p:txBody>
        </p:sp>
        <p:sp>
          <p:nvSpPr>
            <p:cNvPr id="37" name="Text 5"/>
            <p:cNvSpPr/>
            <p:nvPr/>
          </p:nvSpPr>
          <p:spPr>
            <a:xfrm>
              <a:off x="609600" y="2900590"/>
              <a:ext cx="3352800" cy="1676400"/>
            </a:xfrm>
            <a:prstGeom prst="rect">
              <a:avLst/>
            </a:prstGeom>
            <a:noFill/>
            <a:ln/>
          </p:spPr>
          <p:txBody>
            <a:bodyPr vert="horz" wrap="square" lIns="0" tIns="0" rIns="0" bIns="0" rtlCol="0" anchor="t"/>
            <a:lstStyle/>
            <a:p>
              <a:pPr marL="0" indent="0">
                <a:lnSpc>
                  <a:spcPts val="1200"/>
                </a:lnSpc>
                <a:buNone/>
              </a:pPr>
              <a:r>
                <a:rPr lang="en-US" sz="900" dirty="0">
                  <a:solidFill>
                    <a:srgbClr val="4B556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face_locations = face_recognition.face_locations(rgb_image, model='hog')
if not face_locations:
face_locations = face_recognition.face_locations(rgb_image, model='cnn')
if not face_locations:
enhanced = cv2.convertScaleAbs(rgb_image, alpha=1.2, beta=30)</a:t>
              </a:r>
              <a:endParaRPr lang="en-US" sz="900" dirty="0"/>
            </a:p>
          </p:txBody>
        </p:sp>
      </p:grpSp>
      <p:sp>
        <p:nvSpPr>
          <p:cNvPr id="38" name="Text 6"/>
          <p:cNvSpPr/>
          <p:nvPr/>
        </p:nvSpPr>
        <p:spPr>
          <a:xfrm>
            <a:off x="4924425" y="1329874"/>
            <a:ext cx="3009900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 similarity deduplication of multiple photos</a:t>
            </a:r>
            <a:endParaRPr lang="en-US" sz="1500" dirty="0"/>
          </a:p>
        </p:txBody>
      </p:sp>
      <p:sp>
        <p:nvSpPr>
          <p:cNvPr id="39" name="Text 7"/>
          <p:cNvSpPr/>
          <p:nvPr/>
        </p:nvSpPr>
        <p:spPr>
          <a:xfrm>
            <a:off x="4381500" y="1824265"/>
            <a:ext cx="3543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highest similarity retention strategy</a:t>
            </a:r>
            <a:endParaRPr lang="en-US" sz="1200" dirty="0"/>
          </a:p>
        </p:txBody>
      </p:sp>
      <p:sp>
        <p:nvSpPr>
          <p:cNvPr id="40" name="Text 8"/>
          <p:cNvSpPr/>
          <p:nvPr/>
        </p:nvSpPr>
        <p:spPr>
          <a:xfrm>
            <a:off x="4381500" y="2090965"/>
            <a:ext cx="3543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Completely solve the problem of repeated marking of the same student</a:t>
            </a:r>
            <a:endParaRPr lang="en-US" sz="1200" dirty="0"/>
          </a:p>
        </p:txBody>
      </p:sp>
      <p:sp>
        <p:nvSpPr>
          <p:cNvPr id="41" name="Text 9"/>
          <p:cNvSpPr/>
          <p:nvPr/>
        </p:nvSpPr>
        <p:spPr>
          <a:xfrm>
            <a:off x="4381500" y="2554061"/>
            <a:ext cx="3352800" cy="2807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Significantly reduce the false identification rate</a:t>
            </a:r>
            <a:endParaRPr lang="en-US" sz="1200" dirty="0"/>
          </a:p>
        </p:txBody>
      </p:sp>
      <p:sp>
        <p:nvSpPr>
          <p:cNvPr id="42" name="Text 10"/>
          <p:cNvSpPr/>
          <p:nvPr/>
        </p:nvSpPr>
        <p:spPr>
          <a:xfrm>
            <a:off x="4495800" y="3082471"/>
            <a:ext cx="3352800" cy="152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best_similarity &gt;= 0.42:
if best_student.id not in recognized_students:
recognized_students[best_student.id] = (best_student.name, best_similarity)
else:
if best_similarity &gt; recognized_students[best_student.id][1]:
recognized_students[best_student.id] = (best_student.name, best_similarity)</a:t>
            </a:r>
            <a:endParaRPr lang="en-US" sz="900" dirty="0"/>
          </a:p>
        </p:txBody>
      </p:sp>
      <p:sp>
        <p:nvSpPr>
          <p:cNvPr id="43" name="Text 11"/>
          <p:cNvSpPr/>
          <p:nvPr/>
        </p:nvSpPr>
        <p:spPr>
          <a:xfrm>
            <a:off x="8801100" y="1424214"/>
            <a:ext cx="2857500" cy="2812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threshold adjustment</a:t>
            </a:r>
            <a:endParaRPr lang="en-US" sz="1500" dirty="0"/>
          </a:p>
        </p:txBody>
      </p:sp>
      <p:sp>
        <p:nvSpPr>
          <p:cNvPr id="44" name="Text 12"/>
          <p:cNvSpPr/>
          <p:nvPr/>
        </p:nvSpPr>
        <p:spPr>
          <a:xfrm>
            <a:off x="8267700" y="1832431"/>
            <a:ext cx="3318329" cy="2812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the recognition threshold from the default 0.6 to 0.42</a:t>
            </a:r>
            <a:endParaRPr lang="en-US" sz="1200" dirty="0"/>
          </a:p>
        </p:txBody>
      </p:sp>
      <p:sp>
        <p:nvSpPr>
          <p:cNvPr id="45" name="Text 13"/>
          <p:cNvSpPr/>
          <p:nvPr/>
        </p:nvSpPr>
        <p:spPr>
          <a:xfrm>
            <a:off x="8267700" y="2319564"/>
            <a:ext cx="3368040" cy="2131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Optimized for classroom small face and side face scenes</a:t>
            </a:r>
            <a:endParaRPr lang="en-US" sz="1200" dirty="0"/>
          </a:p>
        </p:txBody>
      </p:sp>
      <p:sp>
        <p:nvSpPr>
          <p:cNvPr id="46" name="Text 14"/>
          <p:cNvSpPr/>
          <p:nvPr/>
        </p:nvSpPr>
        <p:spPr>
          <a:xfrm>
            <a:off x="8264071" y="2834821"/>
            <a:ext cx="3548795" cy="2503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 recall rate under the premise of ensuring a very low false identification rate</a:t>
            </a:r>
            <a:endParaRPr lang="en-US" sz="1200" dirty="0"/>
          </a:p>
        </p:txBody>
      </p:sp>
      <p:sp>
        <p:nvSpPr>
          <p:cNvPr id="47" name="Text 15"/>
          <p:cNvSpPr/>
          <p:nvPr/>
        </p:nvSpPr>
        <p:spPr>
          <a:xfrm>
            <a:off x="8282940" y="3461883"/>
            <a:ext cx="3352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 of threshold selection experiments:</a:t>
            </a:r>
            <a:endParaRPr lang="en-US" sz="1050" dirty="0"/>
          </a:p>
        </p:txBody>
      </p:sp>
      <p:sp>
        <p:nvSpPr>
          <p:cNvPr id="48" name="Text 16"/>
          <p:cNvSpPr/>
          <p:nvPr/>
        </p:nvSpPr>
        <p:spPr>
          <a:xfrm>
            <a:off x="8282940" y="3690483"/>
            <a:ext cx="4023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 (default): 95.2% accuracy, 72.5% recall</a:t>
            </a:r>
            <a:endParaRPr lang="en-US" sz="1050" dirty="0"/>
          </a:p>
        </p:txBody>
      </p:sp>
      <p:sp>
        <p:nvSpPr>
          <p:cNvPr id="49" name="Text 17"/>
          <p:cNvSpPr/>
          <p:nvPr/>
        </p:nvSpPr>
        <p:spPr>
          <a:xfrm>
            <a:off x="8282940" y="3919083"/>
            <a:ext cx="4023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0.42 (this article): Accuracy 87.8%, Recall 90.0%</a:t>
            </a:r>
            <a:endParaRPr lang="en-US" sz="1050" dirty="0"/>
          </a:p>
        </p:txBody>
      </p:sp>
      <p:sp>
        <p:nvSpPr>
          <p:cNvPr id="50" name="Text 18"/>
          <p:cNvSpPr/>
          <p:nvPr/>
        </p:nvSpPr>
        <p:spPr>
          <a:xfrm>
            <a:off x="533400" y="5191125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improvements</a:t>
            </a:r>
            <a:endParaRPr lang="en-US" sz="1500" dirty="0"/>
          </a:p>
        </p:txBody>
      </p:sp>
      <p:sp>
        <p:nvSpPr>
          <p:cNvPr id="51" name="Text 19"/>
          <p:cNvSpPr/>
          <p:nvPr/>
        </p:nvSpPr>
        <p:spPr>
          <a:xfrm>
            <a:off x="647700" y="5648325"/>
            <a:ext cx="45380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68.4%</a:t>
            </a:r>
            <a:endParaRPr lang="en-US" sz="1050" dirty="0"/>
          </a:p>
        </p:txBody>
      </p:sp>
      <p:sp>
        <p:nvSpPr>
          <p:cNvPr id="52" name="Text 20"/>
          <p:cNvSpPr/>
          <p:nvPr/>
        </p:nvSpPr>
        <p:spPr>
          <a:xfrm>
            <a:off x="533400" y="5972174"/>
            <a:ext cx="1230086" cy="2322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optimization</a:t>
            </a:r>
            <a:endParaRPr lang="en-US" sz="900" dirty="0"/>
          </a:p>
        </p:txBody>
      </p:sp>
      <p:sp>
        <p:nvSpPr>
          <p:cNvPr id="53" name="Text 21"/>
          <p:cNvSpPr/>
          <p:nvPr/>
        </p:nvSpPr>
        <p:spPr>
          <a:xfrm>
            <a:off x="4495800" y="6005285"/>
            <a:ext cx="1141363" cy="119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detection rate</a:t>
            </a:r>
            <a:endParaRPr lang="en-US" sz="900" dirty="0"/>
          </a:p>
        </p:txBody>
      </p:sp>
      <p:sp>
        <p:nvSpPr>
          <p:cNvPr id="54" name="Text 22"/>
          <p:cNvSpPr/>
          <p:nvPr/>
        </p:nvSpPr>
        <p:spPr>
          <a:xfrm>
            <a:off x="9845725" y="5648325"/>
            <a:ext cx="45380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90.0%</a:t>
            </a:r>
            <a:endParaRPr lang="en-US" sz="1050" dirty="0"/>
          </a:p>
        </p:txBody>
      </p:sp>
      <p:sp>
        <p:nvSpPr>
          <p:cNvPr id="55" name="Text 23"/>
          <p:cNvSpPr/>
          <p:nvPr/>
        </p:nvSpPr>
        <p:spPr>
          <a:xfrm>
            <a:off x="5595253" y="6005285"/>
            <a:ext cx="959586" cy="119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optimization</a:t>
            </a:r>
            <a:endParaRPr lang="en-US" sz="900" dirty="0"/>
          </a:p>
        </p:txBody>
      </p:sp>
      <p:sp>
        <p:nvSpPr>
          <p:cNvPr id="56" name="Text 24"/>
          <p:cNvSpPr/>
          <p:nvPr/>
        </p:nvSpPr>
        <p:spPr>
          <a:xfrm>
            <a:off x="9475738" y="5972175"/>
            <a:ext cx="1141363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detection rate</a:t>
            </a:r>
            <a:endParaRPr lang="en-US" sz="900" dirty="0"/>
          </a:p>
        </p:txBody>
      </p:sp>
      <p:sp>
        <p:nvSpPr>
          <p:cNvPr id="57" name="Text 25"/>
          <p:cNvSpPr/>
          <p:nvPr/>
        </p:nvSpPr>
        <p:spPr>
          <a:xfrm>
            <a:off x="11028164" y="5705475"/>
            <a:ext cx="7817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+21.6%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2876550"/>
            <a:ext cx="2438400" cy="1790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3067050"/>
            <a:ext cx="609600" cy="609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3125" y="3200400"/>
            <a:ext cx="28575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730" y="1143000"/>
            <a:ext cx="2526030" cy="17335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9130" y="1295400"/>
            <a:ext cx="3810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" y="1409700"/>
            <a:ext cx="1905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530" y="1781175"/>
            <a:ext cx="133350" cy="1333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530" y="2009775"/>
            <a:ext cx="133350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1530" y="2434315"/>
            <a:ext cx="133350" cy="1333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7800" y="1104900"/>
            <a:ext cx="2617470" cy="17716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20200" y="1257300"/>
            <a:ext cx="38100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5450" y="1371600"/>
            <a:ext cx="1905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1743075"/>
            <a:ext cx="133350" cy="13335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1971675"/>
            <a:ext cx="133350" cy="1333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2352674"/>
            <a:ext cx="133350" cy="1333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334" y="4995863"/>
            <a:ext cx="2617470" cy="15845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4734" y="5148263"/>
            <a:ext cx="381000" cy="381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9034" y="5262563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134" y="5590496"/>
            <a:ext cx="133350" cy="13335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134" y="5862638"/>
            <a:ext cx="133350" cy="13335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134" y="6258150"/>
            <a:ext cx="133350" cy="13335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7800" y="5029200"/>
            <a:ext cx="2617470" cy="15845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20200" y="518160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34500" y="529590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5667375"/>
            <a:ext cx="133350" cy="1333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5895975"/>
            <a:ext cx="133350" cy="1333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72600" y="6269715"/>
            <a:ext cx="133350" cy="1333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028364" y="1906276"/>
            <a:ext cx="606962" cy="587998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72804" y="1868176"/>
            <a:ext cx="999392" cy="587998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119804" y="5087626"/>
            <a:ext cx="999392" cy="587998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72804" y="5087626"/>
            <a:ext cx="999392" cy="587998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238500" y="1324570"/>
            <a:ext cx="5715000" cy="4894659"/>
          </a:xfrm>
          <a:prstGeom prst="rect">
            <a:avLst/>
          </a:prstGeom>
        </p:spPr>
      </p:pic>
      <p:pic>
        <p:nvPicPr>
          <p:cNvPr id="36" name="Image 34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8500" y="1346302"/>
            <a:ext cx="5715000" cy="4851194"/>
          </a:xfrm>
          <a:prstGeom prst="rect">
            <a:avLst/>
          </a:prstGeom>
        </p:spPr>
      </p:pic>
      <p:sp>
        <p:nvSpPr>
          <p:cNvPr id="3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function module</a:t>
            </a:r>
            <a:endParaRPr lang="en-US" sz="2700" dirty="0"/>
          </a:p>
        </p:txBody>
      </p:sp>
      <p:sp>
        <p:nvSpPr>
          <p:cNvPr id="41" name="Text 3"/>
          <p:cNvSpPr/>
          <p:nvPr/>
        </p:nvSpPr>
        <p:spPr>
          <a:xfrm>
            <a:off x="1154429" y="1352549"/>
            <a:ext cx="1794329" cy="3136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management</a:t>
            </a:r>
            <a:endParaRPr lang="en-US" sz="1350" dirty="0"/>
          </a:p>
        </p:txBody>
      </p:sp>
      <p:sp>
        <p:nvSpPr>
          <p:cNvPr id="42" name="Text 4"/>
          <p:cNvSpPr/>
          <p:nvPr/>
        </p:nvSpPr>
        <p:spPr>
          <a:xfrm>
            <a:off x="792480" y="17526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 front photo registration</a:t>
            </a:r>
            <a:endParaRPr lang="en-US" sz="1050" dirty="0"/>
          </a:p>
        </p:txBody>
      </p:sp>
      <p:sp>
        <p:nvSpPr>
          <p:cNvPr id="43" name="Text 5"/>
          <p:cNvSpPr/>
          <p:nvPr/>
        </p:nvSpPr>
        <p:spPr>
          <a:xfrm>
            <a:off x="792480" y="1981199"/>
            <a:ext cx="2164666" cy="3905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Information modification and replacement of photos</a:t>
            </a:r>
            <a:endParaRPr lang="en-US" sz="1050" dirty="0"/>
          </a:p>
        </p:txBody>
      </p:sp>
      <p:sp>
        <p:nvSpPr>
          <p:cNvPr id="44" name="Text 6"/>
          <p:cNvSpPr/>
          <p:nvPr/>
        </p:nvSpPr>
        <p:spPr>
          <a:xfrm>
            <a:off x="793023" y="2409825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Delete students and history</a:t>
            </a:r>
            <a:endParaRPr lang="en-US" sz="1050" dirty="0"/>
          </a:p>
        </p:txBody>
      </p:sp>
      <p:sp>
        <p:nvSpPr>
          <p:cNvPr id="45" name="Text 7"/>
          <p:cNvSpPr/>
          <p:nvPr/>
        </p:nvSpPr>
        <p:spPr>
          <a:xfrm>
            <a:off x="9715499" y="1314450"/>
            <a:ext cx="1641929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management</a:t>
            </a:r>
            <a:endParaRPr lang="en-US" sz="1350" dirty="0"/>
          </a:p>
        </p:txBody>
      </p:sp>
      <p:sp>
        <p:nvSpPr>
          <p:cNvPr id="46" name="Text 8"/>
          <p:cNvSpPr/>
          <p:nvPr/>
        </p:nvSpPr>
        <p:spPr>
          <a:xfrm>
            <a:off x="9353550" y="17145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Create and delete classes</a:t>
            </a:r>
            <a:endParaRPr lang="en-US" sz="1050" dirty="0"/>
          </a:p>
        </p:txBody>
      </p:sp>
      <p:sp>
        <p:nvSpPr>
          <p:cNvPr id="47" name="Text 9"/>
          <p:cNvSpPr/>
          <p:nvPr/>
        </p:nvSpPr>
        <p:spPr>
          <a:xfrm>
            <a:off x="9353550" y="19431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Batch management of class students</a:t>
            </a:r>
            <a:endParaRPr lang="en-US" sz="1050" dirty="0"/>
          </a:p>
        </p:txBody>
      </p:sp>
      <p:sp>
        <p:nvSpPr>
          <p:cNvPr id="48" name="Text 10"/>
          <p:cNvSpPr/>
          <p:nvPr/>
        </p:nvSpPr>
        <p:spPr>
          <a:xfrm>
            <a:off x="9349014" y="2335439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information export</a:t>
            </a:r>
            <a:endParaRPr lang="en-US" sz="1050" dirty="0"/>
          </a:p>
        </p:txBody>
      </p:sp>
      <p:sp>
        <p:nvSpPr>
          <p:cNvPr id="49" name="Text 11"/>
          <p:cNvSpPr/>
          <p:nvPr/>
        </p:nvSpPr>
        <p:spPr>
          <a:xfrm>
            <a:off x="1150034" y="5205413"/>
            <a:ext cx="1688416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processing</a:t>
            </a:r>
            <a:endParaRPr lang="en-US" sz="1350" dirty="0"/>
          </a:p>
        </p:txBody>
      </p:sp>
      <p:sp>
        <p:nvSpPr>
          <p:cNvPr id="50" name="Text 12"/>
          <p:cNvSpPr/>
          <p:nvPr/>
        </p:nvSpPr>
        <p:spPr>
          <a:xfrm>
            <a:off x="815926" y="550545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classroom photos were uploaded</a:t>
            </a:r>
            <a:endParaRPr lang="en-US" sz="1050" dirty="0"/>
          </a:p>
        </p:txBody>
      </p:sp>
      <p:sp>
        <p:nvSpPr>
          <p:cNvPr id="51" name="Text 13"/>
          <p:cNvSpPr/>
          <p:nvPr/>
        </p:nvSpPr>
        <p:spPr>
          <a:xfrm>
            <a:off x="788084" y="5834063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Image preprocessing and enhancement</a:t>
            </a:r>
            <a:endParaRPr lang="en-US" sz="1050" dirty="0"/>
          </a:p>
        </p:txBody>
      </p:sp>
      <p:sp>
        <p:nvSpPr>
          <p:cNvPr id="52" name="Text 14"/>
          <p:cNvSpPr/>
          <p:nvPr/>
        </p:nvSpPr>
        <p:spPr>
          <a:xfrm>
            <a:off x="788084" y="6217107"/>
            <a:ext cx="2240280" cy="43678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Large image auto-scaling processing</a:t>
            </a:r>
            <a:endParaRPr lang="en-US" sz="1050" dirty="0"/>
          </a:p>
        </p:txBody>
      </p:sp>
      <p:sp>
        <p:nvSpPr>
          <p:cNvPr id="53" name="Text 15"/>
          <p:cNvSpPr/>
          <p:nvPr/>
        </p:nvSpPr>
        <p:spPr>
          <a:xfrm>
            <a:off x="9715500" y="5238750"/>
            <a:ext cx="164192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management</a:t>
            </a:r>
            <a:endParaRPr lang="en-US" sz="1350" dirty="0"/>
          </a:p>
        </p:txBody>
      </p:sp>
      <p:sp>
        <p:nvSpPr>
          <p:cNvPr id="54" name="Text 16"/>
          <p:cNvSpPr/>
          <p:nvPr/>
        </p:nvSpPr>
        <p:spPr>
          <a:xfrm>
            <a:off x="9353550" y="56388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Attendance record query</a:t>
            </a:r>
            <a:endParaRPr lang="en-US" sz="1050" dirty="0"/>
          </a:p>
        </p:txBody>
      </p:sp>
      <p:sp>
        <p:nvSpPr>
          <p:cNvPr id="55" name="Text 17"/>
          <p:cNvSpPr/>
          <p:nvPr/>
        </p:nvSpPr>
        <p:spPr>
          <a:xfrm>
            <a:off x="9353550" y="58674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statistical and pivot reports</a:t>
            </a:r>
            <a:endParaRPr lang="en-US" sz="1050" dirty="0"/>
          </a:p>
        </p:txBody>
      </p:sp>
      <p:sp>
        <p:nvSpPr>
          <p:cNvPr id="56" name="Text 18"/>
          <p:cNvSpPr/>
          <p:nvPr/>
        </p:nvSpPr>
        <p:spPr>
          <a:xfrm>
            <a:off x="9349014" y="6245000"/>
            <a:ext cx="2240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Database backup and reset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14450"/>
            <a:ext cx="5562600" cy="2209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543050"/>
            <a:ext cx="457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950" y="1638300"/>
            <a:ext cx="190500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19075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49555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2800350"/>
            <a:ext cx="1905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105150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752850"/>
            <a:ext cx="5562600" cy="2209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981450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950" y="4076700"/>
            <a:ext cx="1905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4629150"/>
            <a:ext cx="1905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00" y="493395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5238750"/>
            <a:ext cx="17145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600" y="5543550"/>
            <a:ext cx="1905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400" y="1314450"/>
            <a:ext cx="5562600" cy="5105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154305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10350" y="1638300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0" y="2266950"/>
            <a:ext cx="367010" cy="3810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584305" y="2381250"/>
            <a:ext cx="1524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477000" y="2933700"/>
            <a:ext cx="381000" cy="381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91300" y="30480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3867150"/>
            <a:ext cx="2495550" cy="8001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591300" y="4019550"/>
            <a:ext cx="1524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86850" y="3867150"/>
            <a:ext cx="2495550" cy="762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01150" y="4019550"/>
            <a:ext cx="152400" cy="152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477000" y="4747077"/>
            <a:ext cx="2495550" cy="78468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91300" y="4899477"/>
            <a:ext cx="190500" cy="152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086850" y="4747076"/>
            <a:ext cx="2495550" cy="784679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01150" y="4899477"/>
            <a:ext cx="123825" cy="1524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457950" y="5607957"/>
            <a:ext cx="5105400" cy="685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77000" y="6004377"/>
            <a:ext cx="628650" cy="2667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181850" y="6004377"/>
            <a:ext cx="495300" cy="2667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753350" y="6004377"/>
            <a:ext cx="495300" cy="2667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324850" y="6004377"/>
            <a:ext cx="495300" cy="2667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96350" y="6004377"/>
            <a:ext cx="762000" cy="2667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734550" y="6004377"/>
            <a:ext cx="762000" cy="266700"/>
          </a:xfrm>
          <a:prstGeom prst="rect">
            <a:avLst/>
          </a:prstGeom>
        </p:spPr>
      </p:pic>
      <p:sp>
        <p:nvSpPr>
          <p:cNvPr id="4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environment and dataset</a:t>
            </a:r>
            <a:endParaRPr lang="en-US" sz="2700" dirty="0"/>
          </a:p>
        </p:txBody>
      </p:sp>
      <p:sp>
        <p:nvSpPr>
          <p:cNvPr id="42" name="Text 1"/>
          <p:cNvSpPr/>
          <p:nvPr/>
        </p:nvSpPr>
        <p:spPr>
          <a:xfrm>
            <a:off x="1219199" y="1638300"/>
            <a:ext cx="3766457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hardware environment</a:t>
            </a:r>
            <a:endParaRPr lang="en-US" sz="1500" dirty="0"/>
          </a:p>
        </p:txBody>
      </p:sp>
      <p:sp>
        <p:nvSpPr>
          <p:cNvPr id="43" name="Text 2"/>
          <p:cNvSpPr/>
          <p:nvPr/>
        </p:nvSpPr>
        <p:spPr>
          <a:xfrm>
            <a:off x="838199" y="2152650"/>
            <a:ext cx="46554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Tencent Cloud Lightweight Application Server (4-core processor)</a:t>
            </a:r>
            <a:endParaRPr lang="en-US" sz="1200" dirty="0"/>
          </a:p>
        </p:txBody>
      </p:sp>
      <p:sp>
        <p:nvSpPr>
          <p:cNvPr id="44" name="Text 3"/>
          <p:cNvSpPr/>
          <p:nvPr/>
        </p:nvSpPr>
        <p:spPr>
          <a:xfrm>
            <a:off x="857250" y="2457450"/>
            <a:ext cx="218509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4GB RAM, 40GB SSD</a:t>
            </a:r>
            <a:endParaRPr lang="en-US" sz="1200" dirty="0"/>
          </a:p>
        </p:txBody>
      </p:sp>
      <p:sp>
        <p:nvSpPr>
          <p:cNvPr id="45" name="Text 4"/>
          <p:cNvSpPr/>
          <p:nvPr/>
        </p:nvSpPr>
        <p:spPr>
          <a:xfrm>
            <a:off x="876300" y="2762250"/>
            <a:ext cx="25485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22.04 LTS, Python 3.10</a:t>
            </a:r>
            <a:endParaRPr lang="en-US" sz="1200" dirty="0"/>
          </a:p>
        </p:txBody>
      </p:sp>
      <p:sp>
        <p:nvSpPr>
          <p:cNvPr id="46" name="Text 5"/>
          <p:cNvSpPr/>
          <p:nvPr/>
        </p:nvSpPr>
        <p:spPr>
          <a:xfrm>
            <a:off x="876300" y="3067050"/>
            <a:ext cx="290768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face_recognition 1.3.0, OpenCV 4.8</a:t>
            </a:r>
            <a:endParaRPr lang="en-US" sz="1200" dirty="0"/>
          </a:p>
        </p:txBody>
      </p:sp>
      <p:sp>
        <p:nvSpPr>
          <p:cNvPr id="47" name="Text 6"/>
          <p:cNvSpPr/>
          <p:nvPr/>
        </p:nvSpPr>
        <p:spPr>
          <a:xfrm>
            <a:off x="1219199" y="4076700"/>
            <a:ext cx="2205633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description</a:t>
            </a:r>
            <a:endParaRPr lang="en-US" sz="1500" dirty="0"/>
          </a:p>
        </p:txBody>
      </p:sp>
      <p:sp>
        <p:nvSpPr>
          <p:cNvPr id="48" name="Text 7"/>
          <p:cNvSpPr/>
          <p:nvPr/>
        </p:nvSpPr>
        <p:spPr>
          <a:xfrm>
            <a:off x="876300" y="4591050"/>
            <a:ext cx="38367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university classroom with 55 registered students</a:t>
            </a:r>
            <a:endParaRPr lang="en-US" sz="1200" dirty="0"/>
          </a:p>
        </p:txBody>
      </p:sp>
      <p:sp>
        <p:nvSpPr>
          <p:cNvPr id="49" name="Text 8"/>
          <p:cNvSpPr/>
          <p:nvPr/>
        </p:nvSpPr>
        <p:spPr>
          <a:xfrm>
            <a:off x="819150" y="4895850"/>
            <a:ext cx="350139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consecutive lessons tested</a:t>
            </a:r>
            <a:endParaRPr lang="en-US" sz="1200" dirty="0"/>
          </a:p>
        </p:txBody>
      </p:sp>
      <p:sp>
        <p:nvSpPr>
          <p:cNvPr id="50" name="Text 9"/>
          <p:cNvSpPr/>
          <p:nvPr/>
        </p:nvSpPr>
        <p:spPr>
          <a:xfrm>
            <a:off x="857249" y="5200650"/>
            <a:ext cx="434612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multiple class photos from different angles in each class</a:t>
            </a:r>
            <a:endParaRPr lang="en-US" sz="1200" dirty="0"/>
          </a:p>
        </p:txBody>
      </p:sp>
      <p:sp>
        <p:nvSpPr>
          <p:cNvPr id="51" name="Text 10"/>
          <p:cNvSpPr/>
          <p:nvPr/>
        </p:nvSpPr>
        <p:spPr>
          <a:xfrm>
            <a:off x="876299" y="5505450"/>
            <a:ext cx="448672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assessment covered 40 students who were actually present</a:t>
            </a:r>
            <a:endParaRPr lang="en-US" sz="1200" dirty="0"/>
          </a:p>
        </p:txBody>
      </p:sp>
      <p:sp>
        <p:nvSpPr>
          <p:cNvPr id="52" name="Text 11"/>
          <p:cNvSpPr/>
          <p:nvPr/>
        </p:nvSpPr>
        <p:spPr>
          <a:xfrm>
            <a:off x="7086599" y="1638300"/>
            <a:ext cx="3572589" cy="3619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methods and indicators</a:t>
            </a:r>
            <a:endParaRPr lang="en-US" sz="1500" dirty="0"/>
          </a:p>
        </p:txBody>
      </p:sp>
      <p:sp>
        <p:nvSpPr>
          <p:cNvPr id="53" name="Text 12"/>
          <p:cNvSpPr/>
          <p:nvPr/>
        </p:nvSpPr>
        <p:spPr>
          <a:xfrm>
            <a:off x="6958310" y="2152650"/>
            <a:ext cx="46240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tools</a:t>
            </a:r>
            <a:endParaRPr lang="en-US" sz="1200" dirty="0"/>
          </a:p>
        </p:txBody>
      </p:sp>
      <p:sp>
        <p:nvSpPr>
          <p:cNvPr id="54" name="Text 13"/>
          <p:cNvSpPr/>
          <p:nvPr/>
        </p:nvSpPr>
        <p:spPr>
          <a:xfrm>
            <a:off x="6958310" y="2381250"/>
            <a:ext cx="462409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Independently developed automated accuracy evaluation tool with the same face detection and recognition logic as the main attendance system</a:t>
            </a:r>
            <a:endParaRPr lang="en-US" sz="1050" dirty="0"/>
          </a:p>
        </p:txBody>
      </p:sp>
      <p:sp>
        <p:nvSpPr>
          <p:cNvPr id="55" name="Text 14"/>
          <p:cNvSpPr/>
          <p:nvPr/>
        </p:nvSpPr>
        <p:spPr>
          <a:xfrm>
            <a:off x="6972300" y="2914650"/>
            <a:ext cx="371906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process</a:t>
            </a:r>
            <a:endParaRPr lang="en-US" sz="1200" dirty="0"/>
          </a:p>
        </p:txBody>
      </p:sp>
      <p:sp>
        <p:nvSpPr>
          <p:cNvPr id="56" name="Text 15"/>
          <p:cNvSpPr/>
          <p:nvPr/>
        </p:nvSpPr>
        <p:spPr>
          <a:xfrm>
            <a:off x="6972300" y="3143250"/>
            <a:ext cx="44628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Pre-process and identify each photo, output TP, FP, FN, and calculate various indicators</a:t>
            </a:r>
            <a:endParaRPr lang="en-US" sz="1050" dirty="0"/>
          </a:p>
        </p:txBody>
      </p:sp>
      <p:sp>
        <p:nvSpPr>
          <p:cNvPr id="57" name="Text 16"/>
          <p:cNvSpPr/>
          <p:nvPr/>
        </p:nvSpPr>
        <p:spPr>
          <a:xfrm>
            <a:off x="6477000" y="356235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evaluation indicators：</a:t>
            </a:r>
            <a:endParaRPr lang="en-US" sz="1200" dirty="0"/>
          </a:p>
        </p:txBody>
      </p:sp>
      <p:sp>
        <p:nvSpPr>
          <p:cNvPr id="58" name="Text 17"/>
          <p:cNvSpPr/>
          <p:nvPr/>
        </p:nvSpPr>
        <p:spPr>
          <a:xfrm>
            <a:off x="6819900" y="3981450"/>
            <a:ext cx="14733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59" name="Text 18"/>
          <p:cNvSpPr/>
          <p:nvPr/>
        </p:nvSpPr>
        <p:spPr>
          <a:xfrm>
            <a:off x="6591300" y="4248150"/>
            <a:ext cx="22669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percentage of students who are actually present is identified</a:t>
            </a:r>
            <a:endParaRPr lang="en-US" sz="1050" dirty="0"/>
          </a:p>
        </p:txBody>
      </p:sp>
      <p:sp>
        <p:nvSpPr>
          <p:cNvPr id="60" name="Text 19"/>
          <p:cNvSpPr/>
          <p:nvPr/>
        </p:nvSpPr>
        <p:spPr>
          <a:xfrm>
            <a:off x="9429750" y="3981450"/>
            <a:ext cx="1229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200" dirty="0"/>
          </a:p>
        </p:txBody>
      </p:sp>
      <p:sp>
        <p:nvSpPr>
          <p:cNvPr id="61" name="Text 20"/>
          <p:cNvSpPr/>
          <p:nvPr/>
        </p:nvSpPr>
        <p:spPr>
          <a:xfrm>
            <a:off x="9201150" y="4248150"/>
            <a:ext cx="2495550" cy="1560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percentage of students who are actually present</a:t>
            </a:r>
            <a:endParaRPr lang="en-US" sz="1050" dirty="0"/>
          </a:p>
        </p:txBody>
      </p:sp>
      <p:sp>
        <p:nvSpPr>
          <p:cNvPr id="62" name="Text 21"/>
          <p:cNvSpPr/>
          <p:nvPr/>
        </p:nvSpPr>
        <p:spPr>
          <a:xfrm>
            <a:off x="6858000" y="4861377"/>
            <a:ext cx="89535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</a:t>
            </a:r>
            <a:endParaRPr lang="en-US" sz="1200" dirty="0"/>
          </a:p>
        </p:txBody>
      </p:sp>
      <p:sp>
        <p:nvSpPr>
          <p:cNvPr id="63" name="Text 22"/>
          <p:cNvSpPr/>
          <p:nvPr/>
        </p:nvSpPr>
        <p:spPr>
          <a:xfrm>
            <a:off x="6591300" y="5128077"/>
            <a:ext cx="2266950" cy="14877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harmonized average of accuracy and recall</a:t>
            </a:r>
            <a:endParaRPr lang="en-US" sz="1050" dirty="0"/>
          </a:p>
        </p:txBody>
      </p:sp>
      <p:sp>
        <p:nvSpPr>
          <p:cNvPr id="64" name="Text 23"/>
          <p:cNvSpPr/>
          <p:nvPr/>
        </p:nvSpPr>
        <p:spPr>
          <a:xfrm>
            <a:off x="9401175" y="4861377"/>
            <a:ext cx="14733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200" dirty="0"/>
          </a:p>
        </p:txBody>
      </p:sp>
      <p:sp>
        <p:nvSpPr>
          <p:cNvPr id="65" name="Text 24"/>
          <p:cNvSpPr/>
          <p:nvPr/>
        </p:nvSpPr>
        <p:spPr>
          <a:xfrm>
            <a:off x="9201150" y="5128077"/>
            <a:ext cx="2495550" cy="14877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proportion of students correctly identified as the actual students present</a:t>
            </a:r>
            <a:endParaRPr lang="en-US" sz="1050" dirty="0"/>
          </a:p>
        </p:txBody>
      </p:sp>
      <p:sp>
        <p:nvSpPr>
          <p:cNvPr id="66" name="Text 25"/>
          <p:cNvSpPr/>
          <p:nvPr/>
        </p:nvSpPr>
        <p:spPr>
          <a:xfrm>
            <a:off x="6477000" y="5705928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classroom scenario test coverage:</a:t>
            </a:r>
            <a:endParaRPr lang="en-US" sz="1200" dirty="0"/>
          </a:p>
        </p:txBody>
      </p:sp>
      <p:sp>
        <p:nvSpPr>
          <p:cNvPr id="67" name="Text 26"/>
          <p:cNvSpPr/>
          <p:nvPr/>
        </p:nvSpPr>
        <p:spPr>
          <a:xfrm>
            <a:off x="6591300" y="6004377"/>
            <a:ext cx="7543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</a:t>
            </a:r>
            <a:endParaRPr lang="en-US" sz="1050" dirty="0"/>
          </a:p>
        </p:txBody>
      </p:sp>
      <p:sp>
        <p:nvSpPr>
          <p:cNvPr id="68" name="Text 27"/>
          <p:cNvSpPr/>
          <p:nvPr/>
        </p:nvSpPr>
        <p:spPr>
          <a:xfrm>
            <a:off x="7296150" y="6004377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</a:t>
            </a:r>
            <a:endParaRPr lang="en-US" sz="1050" dirty="0"/>
          </a:p>
        </p:txBody>
      </p:sp>
      <p:sp>
        <p:nvSpPr>
          <p:cNvPr id="69" name="Text 28"/>
          <p:cNvSpPr/>
          <p:nvPr/>
        </p:nvSpPr>
        <p:spPr>
          <a:xfrm>
            <a:off x="7808504" y="6004377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</a:t>
            </a:r>
            <a:endParaRPr lang="en-US" sz="1050" dirty="0"/>
          </a:p>
        </p:txBody>
      </p:sp>
      <p:sp>
        <p:nvSpPr>
          <p:cNvPr id="70" name="Text 29"/>
          <p:cNvSpPr/>
          <p:nvPr/>
        </p:nvSpPr>
        <p:spPr>
          <a:xfrm>
            <a:off x="8324850" y="6004377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Backlight</a:t>
            </a:r>
            <a:endParaRPr lang="en-US" sz="1050" dirty="0"/>
          </a:p>
        </p:txBody>
      </p:sp>
      <p:sp>
        <p:nvSpPr>
          <p:cNvPr id="71" name="Text 30"/>
          <p:cNvSpPr/>
          <p:nvPr/>
        </p:nvSpPr>
        <p:spPr>
          <a:xfrm>
            <a:off x="9023985" y="5939063"/>
            <a:ext cx="5905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occlusion</a:t>
            </a:r>
            <a:endParaRPr lang="en-US" sz="1050" dirty="0"/>
          </a:p>
        </p:txBody>
      </p:sp>
      <p:sp>
        <p:nvSpPr>
          <p:cNvPr id="72" name="Text 31"/>
          <p:cNvSpPr/>
          <p:nvPr/>
        </p:nvSpPr>
        <p:spPr>
          <a:xfrm>
            <a:off x="9848850" y="6004377"/>
            <a:ext cx="472349" cy="26307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219919"/>
            <a:ext cx="5549660" cy="507377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603" y="1448519"/>
            <a:ext cx="457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191" y="1524719"/>
            <a:ext cx="20002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9260" y="1219919"/>
            <a:ext cx="5651740" cy="507377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5703" y="1448519"/>
            <a:ext cx="4572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0003" y="1524719"/>
            <a:ext cx="228600" cy="304800"/>
          </a:xfrm>
          <a:prstGeom prst="rect">
            <a:avLst/>
          </a:prstGeom>
        </p:spPr>
      </p:pic>
      <p:sp>
        <p:nvSpPr>
          <p:cNvPr id="30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 and performance</a:t>
            </a:r>
            <a:endParaRPr lang="en-US" sz="2700" dirty="0"/>
          </a:p>
        </p:txBody>
      </p:sp>
      <p:sp>
        <p:nvSpPr>
          <p:cNvPr id="36" name="Text 6"/>
          <p:cNvSpPr/>
          <p:nvPr/>
        </p:nvSpPr>
        <p:spPr>
          <a:xfrm>
            <a:off x="6995303" y="1543769"/>
            <a:ext cx="2243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performance</a:t>
            </a:r>
            <a:endParaRPr lang="en-US" sz="1500" dirty="0"/>
          </a:p>
        </p:txBody>
      </p:sp>
      <p:pic>
        <p:nvPicPr>
          <p:cNvPr id="51" name="图片 50">
            <a:extLst>
              <a:ext uri="{FF2B5EF4-FFF2-40B4-BE49-F238E27FC236}">
                <a16:creationId xmlns:a16="http://schemas.microsoft.com/office/drawing/2014/main" id="{39B86717-9D6C-050E-153B-F81E2A555D3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216" y="2173138"/>
            <a:ext cx="4329652" cy="3712801"/>
          </a:xfrm>
          <a:prstGeom prst="rect">
            <a:avLst/>
          </a:prstGeom>
        </p:spPr>
      </p:pic>
      <p:sp>
        <p:nvSpPr>
          <p:cNvPr id="54" name="Text 6">
            <a:extLst>
              <a:ext uri="{FF2B5EF4-FFF2-40B4-BE49-F238E27FC236}">
                <a16:creationId xmlns:a16="http://schemas.microsoft.com/office/drawing/2014/main" id="{5F04AE87-C3AE-E7F7-C414-0722373B6531}"/>
              </a:ext>
            </a:extLst>
          </p:cNvPr>
          <p:cNvSpPr/>
          <p:nvPr/>
        </p:nvSpPr>
        <p:spPr>
          <a:xfrm>
            <a:off x="1187658" y="1562819"/>
            <a:ext cx="221594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zh-CN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 results</a:t>
            </a:r>
            <a:endParaRPr lang="en-US" sz="1500" dirty="0"/>
          </a:p>
        </p:txBody>
      </p:sp>
      <p:pic>
        <p:nvPicPr>
          <p:cNvPr id="56" name="图片 55">
            <a:extLst>
              <a:ext uri="{FF2B5EF4-FFF2-40B4-BE49-F238E27FC236}">
                <a16:creationId xmlns:a16="http://schemas.microsoft.com/office/drawing/2014/main" id="{60F3E9DC-541D-1980-C760-3DF04F8B580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0773" y="2788822"/>
            <a:ext cx="4568714" cy="25646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447800"/>
            <a:ext cx="5638800" cy="4152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714500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133600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950" y="222885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048000"/>
            <a:ext cx="457200" cy="4572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2950" y="314325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733800"/>
            <a:ext cx="457200" cy="457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2950" y="3829050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648200"/>
            <a:ext cx="45720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950" y="4743450"/>
            <a:ext cx="19050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400" y="1447800"/>
            <a:ext cx="5562600" cy="415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1714500"/>
            <a:ext cx="228600" cy="228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3350" y="2343150"/>
            <a:ext cx="45720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3505200"/>
            <a:ext cx="4572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29400" y="3616326"/>
            <a:ext cx="190500" cy="2667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81762" y="459105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638925" y="4686300"/>
            <a:ext cx="142875" cy="2667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advantages and limitations</a:t>
            </a:r>
            <a:endParaRPr lang="en-US" sz="2700" dirty="0"/>
          </a:p>
        </p:txBody>
      </p:sp>
      <p:sp>
        <p:nvSpPr>
          <p:cNvPr id="23" name="Text 1"/>
          <p:cNvSpPr/>
          <p:nvPr/>
        </p:nvSpPr>
        <p:spPr>
          <a:xfrm>
            <a:off x="952500" y="1676400"/>
            <a:ext cx="510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advantages:</a:t>
            </a:r>
            <a:endParaRPr lang="en-US" sz="1800" dirty="0"/>
          </a:p>
        </p:txBody>
      </p:sp>
      <p:sp>
        <p:nvSpPr>
          <p:cNvPr id="24" name="Text 2"/>
          <p:cNvSpPr/>
          <p:nvPr/>
        </p:nvSpPr>
        <p:spPr>
          <a:xfrm>
            <a:off x="1219200" y="21336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realize "non-sensory attendance"</a:t>
            </a:r>
            <a:endParaRPr lang="en-US" sz="1350" dirty="0"/>
          </a:p>
        </p:txBody>
      </p:sp>
      <p:sp>
        <p:nvSpPr>
          <p:cNvPr id="25" name="Text 3"/>
          <p:cNvSpPr/>
          <p:nvPr/>
        </p:nvSpPr>
        <p:spPr>
          <a:xfrm>
            <a:off x="1219200" y="2400300"/>
            <a:ext cx="4495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do not need any cooperation, and teachers do not need to interrupt lectures, completely getting rid of the interference of traditional attendance on the teaching rhythm</a:t>
            </a:r>
            <a:endParaRPr lang="en-US" sz="1200" dirty="0"/>
          </a:p>
        </p:txBody>
      </p:sp>
      <p:sp>
        <p:nvSpPr>
          <p:cNvPr id="26" name="Text 4"/>
          <p:cNvSpPr/>
          <p:nvPr/>
        </p:nvSpPr>
        <p:spPr>
          <a:xfrm>
            <a:off x="1219200" y="3048000"/>
            <a:ext cx="4419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hardware cost deployment</a:t>
            </a:r>
            <a:endParaRPr lang="en-US" sz="1350" dirty="0"/>
          </a:p>
        </p:txBody>
      </p:sp>
      <p:sp>
        <p:nvSpPr>
          <p:cNvPr id="27" name="Text 5"/>
          <p:cNvSpPr/>
          <p:nvPr/>
        </p:nvSpPr>
        <p:spPr>
          <a:xfrm>
            <a:off x="1219200" y="3314700"/>
            <a:ext cx="4572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run on a regular laptop or an existing school computer with no additional hardware investment</a:t>
            </a:r>
            <a:endParaRPr lang="en-US" sz="1200" dirty="0"/>
          </a:p>
        </p:txBody>
      </p:sp>
      <p:sp>
        <p:nvSpPr>
          <p:cNvPr id="28" name="Text 6"/>
          <p:cNvSpPr/>
          <p:nvPr/>
        </p:nvSpPr>
        <p:spPr>
          <a:xfrm>
            <a:off x="1219200" y="37338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robustness</a:t>
            </a:r>
            <a:endParaRPr lang="en-US" sz="1350" dirty="0"/>
          </a:p>
        </p:txBody>
      </p:sp>
      <p:sp>
        <p:nvSpPr>
          <p:cNvPr id="29" name="Text 7"/>
          <p:cNvSpPr/>
          <p:nvPr/>
        </p:nvSpPr>
        <p:spPr>
          <a:xfrm>
            <a:off x="1219200" y="3949700"/>
            <a:ext cx="47396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number of optimizations were carried out for the complex classroom environment (side face, head down, uneven lighting, partial occlusion), and the actual accuracy rate reached more than 90%</a:t>
            </a:r>
            <a:endParaRPr lang="en-US" sz="1200" dirty="0"/>
          </a:p>
        </p:txBody>
      </p:sp>
      <p:sp>
        <p:nvSpPr>
          <p:cNvPr id="30" name="Text 8"/>
          <p:cNvSpPr/>
          <p:nvPr/>
        </p:nvSpPr>
        <p:spPr>
          <a:xfrm>
            <a:off x="1219200" y="46482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closed-loop management</a:t>
            </a:r>
            <a:endParaRPr lang="en-US" sz="1350" dirty="0"/>
          </a:p>
        </p:txBody>
      </p:sp>
      <p:sp>
        <p:nvSpPr>
          <p:cNvPr id="31" name="Text 9"/>
          <p:cNvSpPr/>
          <p:nvPr/>
        </p:nvSpPr>
        <p:spPr>
          <a:xfrm>
            <a:off x="1219200" y="4914900"/>
            <a:ext cx="48387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class creation→ student registration→ daily attendance → report viewing→ data export, all teaching needs are solved in one stop</a:t>
            </a:r>
            <a:endParaRPr lang="en-US" sz="1200" dirty="0"/>
          </a:p>
        </p:txBody>
      </p:sp>
      <p:sp>
        <p:nvSpPr>
          <p:cNvPr id="32" name="Text 10"/>
          <p:cNvSpPr/>
          <p:nvPr/>
        </p:nvSpPr>
        <p:spPr>
          <a:xfrm>
            <a:off x="6819900" y="1676400"/>
            <a:ext cx="5105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limitations</a:t>
            </a:r>
            <a:endParaRPr lang="en-US" sz="1800" dirty="0"/>
          </a:p>
        </p:txBody>
      </p:sp>
      <p:sp>
        <p:nvSpPr>
          <p:cNvPr id="33" name="Text 11"/>
          <p:cNvSpPr/>
          <p:nvPr/>
        </p:nvSpPr>
        <p:spPr>
          <a:xfrm>
            <a:off x="7131050" y="2074636"/>
            <a:ext cx="49149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Extremely similar faces have limited ability to distinguish between them</a:t>
            </a:r>
            <a:endParaRPr lang="en-US" sz="1350" dirty="0"/>
          </a:p>
        </p:txBody>
      </p:sp>
      <p:sp>
        <p:nvSpPr>
          <p:cNvPr id="34" name="Text 12"/>
          <p:cNvSpPr/>
          <p:nvPr/>
        </p:nvSpPr>
        <p:spPr>
          <a:xfrm>
            <a:off x="7124700" y="2627086"/>
            <a:ext cx="4597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Occasional misidentification of identical twins or two students who are extremely similar (misidentification rate 1.8%) is not suitable for classes with many twins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7124700" y="3390900"/>
            <a:ext cx="4495800" cy="2195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recognition rate of wearing a mask or bowing your head significantly decreased</a:t>
            </a:r>
            <a:endParaRPr lang="en-US" sz="1350" dirty="0"/>
          </a:p>
        </p:txBody>
      </p:sp>
      <p:sp>
        <p:nvSpPr>
          <p:cNvPr id="36" name="Text 14"/>
          <p:cNvSpPr/>
          <p:nvPr/>
        </p:nvSpPr>
        <p:spPr>
          <a:xfrm>
            <a:off x="7124700" y="3910694"/>
            <a:ext cx="4495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students wear masks or their heads hang down more than 60°, the detection rate drops significantly</a:t>
            </a:r>
            <a:endParaRPr lang="en-US" sz="1200" dirty="0"/>
          </a:p>
        </p:txBody>
      </p:sp>
      <p:sp>
        <p:nvSpPr>
          <p:cNvPr id="37" name="Text 15"/>
          <p:cNvSpPr/>
          <p:nvPr/>
        </p:nvSpPr>
        <p:spPr>
          <a:xfrm>
            <a:off x="7131050" y="44069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extreme cases of lighting, it may still fail</a:t>
            </a:r>
            <a:endParaRPr lang="en-US" sz="1350" dirty="0"/>
          </a:p>
        </p:txBody>
      </p:sp>
      <p:sp>
        <p:nvSpPr>
          <p:cNvPr id="38" name="Text 16"/>
          <p:cNvSpPr/>
          <p:nvPr/>
        </p:nvSpPr>
        <p:spPr>
          <a:xfrm>
            <a:off x="7124700" y="4679950"/>
            <a:ext cx="4686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extremely strong backlighting (window background) or extremely dark environment (suddenly turning off the lights), the image enhancement strategy is difficult to completely salvage, and individual photos will miss all inspections</a:t>
            </a:r>
            <a:endParaRPr lang="en-US" sz="1200" dirty="0"/>
          </a:p>
        </p:txBody>
      </p:sp>
      <p:sp>
        <p:nvSpPr>
          <p:cNvPr id="39" name="Text 17"/>
          <p:cNvSpPr/>
          <p:nvPr/>
        </p:nvSpPr>
        <p:spPr>
          <a:xfrm>
            <a:off x="2676000" y="5905500"/>
            <a:ext cx="6840000" cy="49167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limitations are not system design flaws, but common problems of current static face recognition technology in complex classroom scenarios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12192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562100"/>
            <a:ext cx="5600700" cy="1409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752600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375" y="1866900"/>
            <a:ext cx="28575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562100"/>
            <a:ext cx="5600700" cy="1409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5260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3675" y="1866900"/>
            <a:ext cx="28575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200400"/>
            <a:ext cx="5600700" cy="11811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909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4375" y="3505200"/>
            <a:ext cx="285750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0300" y="3200400"/>
            <a:ext cx="5600700" cy="11811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3909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24625" y="3505200"/>
            <a:ext cx="323850" cy="3429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610100"/>
            <a:ext cx="11430000" cy="952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4800600"/>
            <a:ext cx="571500" cy="5715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4375" y="4914900"/>
            <a:ext cx="285750" cy="3429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7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improvement direction</a:t>
            </a:r>
            <a:endParaRPr lang="en-US" sz="2700" dirty="0"/>
          </a:p>
        </p:txBody>
      </p:sp>
      <p:sp>
        <p:nvSpPr>
          <p:cNvPr id="21" name="Text 1"/>
          <p:cNvSpPr/>
          <p:nvPr/>
        </p:nvSpPr>
        <p:spPr>
          <a:xfrm>
            <a:off x="381000" y="1104900"/>
            <a:ext cx="13716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response to the current limitations of the system, we propose the following five key improvements to further improve the performance and usability of the system:</a:t>
            </a:r>
            <a:endParaRPr lang="en-US" sz="1200" dirty="0"/>
          </a:p>
        </p:txBody>
      </p:sp>
      <p:sp>
        <p:nvSpPr>
          <p:cNvPr id="22" name="Text 2"/>
          <p:cNvSpPr/>
          <p:nvPr/>
        </p:nvSpPr>
        <p:spPr>
          <a:xfrm>
            <a:off x="1295400" y="17526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Introduce advanced models</a:t>
            </a:r>
            <a:endParaRPr lang="en-US" sz="1500" dirty="0"/>
          </a:p>
        </p:txBody>
      </p:sp>
      <p:sp>
        <p:nvSpPr>
          <p:cNvPr id="23" name="Text 3"/>
          <p:cNvSpPr/>
          <p:nvPr/>
        </p:nvSpPr>
        <p:spPr>
          <a:xfrm>
            <a:off x="1285875" y="2024743"/>
            <a:ext cx="4495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Upgrading </a:t>
            </a:r>
            <a:r>
              <a:rPr lang="en-US" sz="1200" dirty="0" err="1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face_recognition</a:t>
            </a: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(2018 technology) to </a:t>
            </a:r>
            <a:r>
              <a:rPr lang="en-US" sz="1200" dirty="0" err="1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InsightFace</a:t>
            </a: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(2023-2025 mainstream) or </a:t>
            </a:r>
            <a:r>
              <a:rPr lang="en-US" sz="1200" dirty="0" err="1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RetinaFace+ArcFace</a:t>
            </a: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combination, the feature dimension is increased to more than 512 dimensions, and the comprehensive accuracy is expected to increase to 98%-99%.</a:t>
            </a:r>
            <a:endParaRPr lang="en-US" sz="1200" dirty="0"/>
          </a:p>
        </p:txBody>
      </p:sp>
      <p:sp>
        <p:nvSpPr>
          <p:cNvPr id="24" name="Text 4"/>
          <p:cNvSpPr/>
          <p:nvPr/>
        </p:nvSpPr>
        <p:spPr>
          <a:xfrm>
            <a:off x="7124700" y="17526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in liveness testing</a:t>
            </a:r>
            <a:endParaRPr lang="en-US" sz="1500" dirty="0"/>
          </a:p>
        </p:txBody>
      </p:sp>
      <p:sp>
        <p:nvSpPr>
          <p:cNvPr id="25" name="Text 5"/>
          <p:cNvSpPr/>
          <p:nvPr/>
        </p:nvSpPr>
        <p:spPr>
          <a:xfrm>
            <a:off x="7124700" y="2095500"/>
            <a:ext cx="4495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single-frame-based Silent-Live or multi-frame optical flow liveness detection algorithms completely eliminate the risk of photo/video spoofing and improve system security.</a:t>
            </a:r>
            <a:endParaRPr lang="en-US" sz="1200" dirty="0"/>
          </a:p>
        </p:txBody>
      </p:sp>
      <p:sp>
        <p:nvSpPr>
          <p:cNvPr id="26" name="Text 6"/>
          <p:cNvSpPr/>
          <p:nvPr/>
        </p:nvSpPr>
        <p:spPr>
          <a:xfrm>
            <a:off x="1295400" y="33909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mask face recognition</a:t>
            </a:r>
            <a:endParaRPr lang="en-US" sz="1500" dirty="0"/>
          </a:p>
        </p:txBody>
      </p:sp>
      <p:sp>
        <p:nvSpPr>
          <p:cNvPr id="27" name="Text 7"/>
          <p:cNvSpPr/>
          <p:nvPr/>
        </p:nvSpPr>
        <p:spPr>
          <a:xfrm>
            <a:off x="1295400" y="3680279"/>
            <a:ext cx="4495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or call a special mask face model to recognize only the eye and forehead areas to solve the recognition problem in the mask wearing scenario.</a:t>
            </a:r>
            <a:endParaRPr lang="en-US" sz="1200" dirty="0"/>
          </a:p>
        </p:txBody>
      </p:sp>
      <p:sp>
        <p:nvSpPr>
          <p:cNvPr id="28" name="Text 8"/>
          <p:cNvSpPr/>
          <p:nvPr/>
        </p:nvSpPr>
        <p:spPr>
          <a:xfrm>
            <a:off x="7124700" y="3390900"/>
            <a:ext cx="4495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report export</a:t>
            </a:r>
            <a:endParaRPr lang="en-US" sz="1500" dirty="0"/>
          </a:p>
        </p:txBody>
      </p:sp>
      <p:sp>
        <p:nvSpPr>
          <p:cNvPr id="29" name="Text 9"/>
          <p:cNvSpPr/>
          <p:nvPr/>
        </p:nvSpPr>
        <p:spPr>
          <a:xfrm>
            <a:off x="7124700" y="3680279"/>
            <a:ext cx="4495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supports one-click export of PDF/Excel monthly attendance sheets to meet the archiving needs of the Academic Affairs Office and improve the practicability of the system.</a:t>
            </a:r>
            <a:endParaRPr lang="en-US" sz="1200" dirty="0"/>
          </a:p>
        </p:txBody>
      </p:sp>
      <p:sp>
        <p:nvSpPr>
          <p:cNvPr id="30" name="Text 10"/>
          <p:cNvSpPr/>
          <p:nvPr/>
        </p:nvSpPr>
        <p:spPr>
          <a:xfrm>
            <a:off x="1295400" y="4800600"/>
            <a:ext cx="61299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sz="15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metainformation utilization</a:t>
            </a:r>
            <a:endParaRPr lang="en-US" sz="1500" dirty="0"/>
          </a:p>
        </p:txBody>
      </p:sp>
      <p:sp>
        <p:nvSpPr>
          <p:cNvPr id="31" name="Text 11"/>
          <p:cNvSpPr/>
          <p:nvPr/>
        </p:nvSpPr>
        <p:spPr>
          <a:xfrm>
            <a:off x="1295400" y="5067300"/>
            <a:ext cx="73559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read the shooting time in the photo EXIF, and automatically select the session compared with the class schedule, further improving the intelligence level of the system.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63C2D-A727-BEBC-B13B-D8EB9131A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CADAEA2A-F16C-7E04-D72A-D3F7412E8AD1}"/>
              </a:ext>
            </a:extLst>
          </p:cNvPr>
          <p:cNvSpPr/>
          <p:nvPr/>
        </p:nvSpPr>
        <p:spPr>
          <a:xfrm>
            <a:off x="0" y="-109855"/>
            <a:ext cx="12192000" cy="6443980"/>
          </a:xfrm>
          <a:prstGeom prst="rect">
            <a:avLst/>
          </a:prstGeom>
          <a:solidFill>
            <a:srgbClr val="182F7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452834A-AFE8-EC97-5E79-3EF16262645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377" y="968700"/>
            <a:ext cx="4226084" cy="422608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D14DBB7-5F15-45F2-8B07-D7CF6A77EE23}"/>
              </a:ext>
            </a:extLst>
          </p:cNvPr>
          <p:cNvSpPr/>
          <p:nvPr/>
        </p:nvSpPr>
        <p:spPr>
          <a:xfrm>
            <a:off x="0" y="6129338"/>
            <a:ext cx="12192000" cy="7286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文本框 2">
            <a:extLst>
              <a:ext uri="{FF2B5EF4-FFF2-40B4-BE49-F238E27FC236}">
                <a16:creationId xmlns:a16="http://schemas.microsoft.com/office/drawing/2014/main" id="{B307CA4E-900F-9790-399F-2D4B4631B097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4776470" y="325120"/>
            <a:ext cx="2153285" cy="398780"/>
          </a:xfrm>
          <a:prstGeom prst="rect">
            <a:avLst/>
          </a:prstGeom>
        </p:spPr>
        <p:txBody>
          <a:bodyPr wrap="square" anchor="ctr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zh-CN"/>
            </a:defPPr>
            <a:lvl1pPr marR="0" lvl="0" indent="0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kumimoji="0" sz="5400" b="1" i="0" u="none" strike="noStrike" cap="none" spc="0" normalizeH="0" baseline="0">
                <a:ln>
                  <a:noFill/>
                </a:ln>
                <a:gradFill>
                  <a:gsLst>
                    <a:gs pos="0">
                      <a:srgbClr val="CDA23D"/>
                    </a:gs>
                    <a:gs pos="55000">
                      <a:srgbClr val="E1B64A"/>
                    </a:gs>
                    <a:gs pos="100000">
                      <a:srgbClr val="F7E880">
                        <a:lumMod val="99000"/>
                      </a:srgbClr>
                    </a:gs>
                  </a:gsLst>
                  <a:lin ang="2700000" scaled="1"/>
                </a:gradFill>
                <a:effectLst/>
                <a:uLnTx/>
                <a:uFillTx/>
                <a:latin typeface="Arial" panose="020B0604020202020204"/>
                <a:ea typeface="微软雅黑" panose="020B0503020204020204" charset="-122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 w="12700">
                  <a:noFill/>
                </a:ln>
                <a:solidFill>
                  <a:srgbClr val="182F7B"/>
                </a:solidFill>
                <a:effectLst/>
                <a:uLnTx/>
                <a:uFillTx/>
                <a:latin typeface="汉仪新人文宋 75W" panose="00020600040101010101" pitchFamily="18" charset="-122"/>
                <a:ea typeface="汉仪新人文宋 75W" panose="00020600040101010101" pitchFamily="18" charset="-122"/>
                <a:cs typeface="+mn-ea"/>
                <a:sym typeface="+mn-lt"/>
              </a:rPr>
              <a:t>校长奖学金答辩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60B6D0A5-93A0-177D-D53F-77D806DC4187}"/>
              </a:ext>
            </a:extLst>
          </p:cNvPr>
          <p:cNvGrpSpPr/>
          <p:nvPr/>
        </p:nvGrpSpPr>
        <p:grpSpPr>
          <a:xfrm>
            <a:off x="939800" y="-370205"/>
            <a:ext cx="11381740" cy="7040880"/>
            <a:chOff x="1480" y="-583"/>
            <a:chExt cx="17924" cy="11088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E15594C-CD49-35E5-1C15-A106422B0A60}"/>
                </a:ext>
              </a:extLst>
            </p:cNvPr>
            <p:cNvSpPr/>
            <p:nvPr/>
          </p:nvSpPr>
          <p:spPr>
            <a:xfrm>
              <a:off x="1480" y="9974"/>
              <a:ext cx="16656" cy="5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dist"/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ＳＯＵＴＨ</a:t>
              </a:r>
              <a:r>
                <a:rPr lang="en-US" altLang="zh-CN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E</a:t>
              </a:r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ＡＳＴ　Ｕ</a:t>
              </a:r>
              <a:r>
                <a:rPr lang="en-US" altLang="zh-CN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N</a:t>
              </a:r>
              <a:r>
                <a:rPr lang="zh-CN" altLang="en-US" sz="1600" dirty="0">
                  <a:solidFill>
                    <a:srgbClr val="182F7B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lt"/>
                </a:rPr>
                <a:t>ＩＶＥＲＳＩＴＹ</a:t>
              </a:r>
              <a:endParaRPr lang="zh-CN" altLang="en-US" sz="1600" dirty="0">
                <a:solidFill>
                  <a:srgbClr val="182F7B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D1F4137-68BD-7B6B-EC38-370755C7882E}"/>
                </a:ext>
              </a:extLst>
            </p:cNvPr>
            <p:cNvSpPr/>
            <p:nvPr/>
          </p:nvSpPr>
          <p:spPr>
            <a:xfrm rot="5400000">
              <a:off x="12970" y="3802"/>
              <a:ext cx="10819" cy="204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ctr"/>
              <a:r>
                <a:rPr lang="en-US" altLang="zh-CN" sz="8000" dirty="0">
                  <a:solidFill>
                    <a:schemeClr val="bg1">
                      <a:alpha val="15000"/>
                    </a:schemeClr>
                  </a:solidFill>
                  <a:latin typeface="汉仪雅酷黑 65W" panose="020B0604020202020204" pitchFamily="34" charset="-122"/>
                  <a:ea typeface="汉仪雅酷黑 65W" panose="020B0604020202020204" pitchFamily="34" charset="-122"/>
                  <a:cs typeface="Arial" panose="020B0604020202020204" pitchFamily="34" charset="0"/>
                  <a:sym typeface="+mn-lt"/>
                </a:rPr>
                <a:t>SOUTHEAST</a:t>
              </a: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FB5F9CC7-23F2-32D0-7BDA-45794D959651}"/>
              </a:ext>
            </a:extLst>
          </p:cNvPr>
          <p:cNvSpPr txBox="1"/>
          <p:nvPr/>
        </p:nvSpPr>
        <p:spPr>
          <a:xfrm>
            <a:off x="781050" y="2656690"/>
            <a:ext cx="89331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noProof="0" dirty="0">
                <a:ln w="12700">
                  <a:noFill/>
                </a:ln>
                <a:gradFill>
                  <a:gsLst>
                    <a:gs pos="9000">
                      <a:srgbClr val="D8AD80"/>
                    </a:gs>
                    <a:gs pos="100000">
                      <a:srgbClr val="F5E8DC"/>
                    </a:gs>
                  </a:gsLst>
                  <a:lin ang="16200000" scaled="1"/>
                </a:gra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汉仪新人文宋 75W" panose="00020600040101010101" pitchFamily="18" charset="-122"/>
                <a:ea typeface="汉仪新人文宋 75W" panose="00020600040101010101" pitchFamily="18" charset="-122"/>
                <a:cs typeface="+mn-ea"/>
                <a:sym typeface="+mn-ea"/>
              </a:rPr>
              <a:t>Thanks!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46B22C4-51B9-792D-EA91-CC5271BEA72C}"/>
              </a:ext>
            </a:extLst>
          </p:cNvPr>
          <p:cNvGrpSpPr>
            <a:grpSpLocks noChangeAspect="1"/>
          </p:cNvGrpSpPr>
          <p:nvPr/>
        </p:nvGrpSpPr>
        <p:grpSpPr>
          <a:xfrm>
            <a:off x="387985" y="194945"/>
            <a:ext cx="1618186" cy="703501"/>
            <a:chOff x="143" y="237"/>
            <a:chExt cx="2909" cy="1265"/>
          </a:xfrm>
        </p:grpSpPr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7AABFB39-4B77-E5DC-A53F-FFEB73AA36DD}"/>
                </a:ext>
              </a:extLst>
            </p:cNvPr>
            <p:cNvPicPr/>
            <p:nvPr>
              <p:custDataLst>
                <p:tags r:id="rId4"/>
              </p:custDataLst>
            </p:nvPr>
          </p:nvPicPr>
          <p:blipFill>
            <a:blip r:embed="rId8" cstate="email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  <a:alpha val="0"/>
                  </a:srgbClr>
                </a:clrTo>
              </a:clrChange>
              <a:lum bright="94000" contrast="-70000"/>
            </a:blip>
            <a:srcRect l="33420" t="-971"/>
            <a:stretch>
              <a:fillRect/>
            </a:stretch>
          </p:blipFill>
          <p:spPr>
            <a:xfrm>
              <a:off x="1545" y="487"/>
              <a:ext cx="1507" cy="764"/>
            </a:xfrm>
            <a:prstGeom prst="rect">
              <a:avLst/>
            </a:prstGeom>
            <a:noFill/>
          </p:spPr>
        </p:pic>
        <p:pic>
          <p:nvPicPr>
            <p:cNvPr id="9" name="图片 8" descr="校院标">
              <a:extLst>
                <a:ext uri="{FF2B5EF4-FFF2-40B4-BE49-F238E27FC236}">
                  <a16:creationId xmlns:a16="http://schemas.microsoft.com/office/drawing/2014/main" id="{88600BA1-3CC2-D858-6C3C-0DAE0E277FA9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9"/>
            <a:srcRect r="54601" b="34252"/>
            <a:stretch>
              <a:fillRect/>
            </a:stretch>
          </p:blipFill>
          <p:spPr>
            <a:xfrm>
              <a:off x="143" y="237"/>
              <a:ext cx="1337" cy="1265"/>
            </a:xfrm>
            <a:prstGeom prst="rect">
              <a:avLst/>
            </a:prstGeom>
          </p:spPr>
        </p:pic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FB9B4104-D367-0B38-C2D2-123353EBF91F}"/>
              </a:ext>
            </a:extLst>
          </p:cNvPr>
          <p:cNvGrpSpPr/>
          <p:nvPr/>
        </p:nvGrpSpPr>
        <p:grpSpPr>
          <a:xfrm>
            <a:off x="2880995" y="337820"/>
            <a:ext cx="7308215" cy="412115"/>
            <a:chOff x="4537" y="532"/>
            <a:chExt cx="11509" cy="649"/>
          </a:xfrm>
        </p:grpSpPr>
        <p:pic>
          <p:nvPicPr>
            <p:cNvPr id="21" name="图片 20" descr="椭圆 3">
              <a:extLst>
                <a:ext uri="{FF2B5EF4-FFF2-40B4-BE49-F238E27FC236}">
                  <a16:creationId xmlns:a16="http://schemas.microsoft.com/office/drawing/2014/main" id="{7A874C14-7378-02B1-8D0A-AB0A823CC046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4537" y="1159"/>
              <a:ext cx="11509" cy="22"/>
            </a:xfrm>
            <a:prstGeom prst="rect">
              <a:avLst/>
            </a:prstGeom>
            <a:noFill/>
            <a:ln w="9525">
              <a:noFill/>
            </a:ln>
          </p:spPr>
        </p:pic>
        <p:sp>
          <p:nvSpPr>
            <p:cNvPr id="23" name="文本框 2">
              <a:extLst>
                <a:ext uri="{FF2B5EF4-FFF2-40B4-BE49-F238E27FC236}">
                  <a16:creationId xmlns:a16="http://schemas.microsoft.com/office/drawing/2014/main" id="{F1DD0B2E-13E5-34F3-70F9-8BB12E593B10}"/>
                </a:ext>
              </a:extLst>
            </p:cNvPr>
            <p:cNvSpPr txBox="1"/>
            <p:nvPr>
              <p:custDataLst>
                <p:tags r:id="rId3"/>
              </p:custDataLst>
            </p:nvPr>
          </p:nvSpPr>
          <p:spPr>
            <a:xfrm>
              <a:off x="6581" y="532"/>
              <a:ext cx="5965" cy="628"/>
            </a:xfrm>
            <a:prstGeom prst="rect">
              <a:avLst/>
            </a:prstGeom>
            <a:noFill/>
            <a:effectLst>
              <a:softEdge rad="63500"/>
            </a:effectLst>
          </p:spPr>
          <p:txBody>
            <a:bodyPr wrap="square">
              <a:spAutoFit/>
              <a:scene3d>
                <a:camera prst="orthographicFront"/>
                <a:lightRig rig="threePt" dir="t"/>
              </a:scene3d>
              <a:sp3d contourW="12700"/>
            </a:bodyPr>
            <a:lstStyle>
              <a:defPPr>
                <a:defRPr lang="zh-CN"/>
              </a:defPPr>
              <a:lvl1pPr marR="0" lvl="0" indent="0" fontAlgn="auto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1" i="0" u="none" strike="noStrike" cap="none" spc="0" normalizeH="0" baseline="0">
                  <a:ln>
                    <a:noFill/>
                  </a:ln>
                  <a:gradFill>
                    <a:gsLst>
                      <a:gs pos="0">
                        <a:srgbClr val="CDA23D"/>
                      </a:gs>
                      <a:gs pos="55000">
                        <a:srgbClr val="E1B64A"/>
                      </a:gs>
                      <a:gs pos="100000">
                        <a:srgbClr val="F7E880">
                          <a:lumMod val="99000"/>
                        </a:srgbClr>
                      </a:gs>
                    </a:gsLst>
                    <a:lin ang="2700000" scaled="1"/>
                  </a:gradFill>
                  <a:effectLst/>
                  <a:uLnTx/>
                  <a:uFillTx/>
                  <a:latin typeface="Arial" panose="020B0604020202020204"/>
                  <a:ea typeface="微软雅黑" panose="020B0503020204020204" charset="-122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0" i="0" u="none" strike="noStrike" kern="1200" cap="none" spc="0" normalizeH="0" baseline="0" noProof="0" dirty="0">
                  <a:ln w="12700">
                    <a:noFill/>
                  </a:ln>
                  <a:solidFill>
                    <a:srgbClr val="F8CEB2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汉仪新人文宋 75W" panose="00020600040101010101" pitchFamily="18" charset="-122"/>
                  <a:ea typeface="汉仪新人文宋 75W" panose="00020600040101010101" pitchFamily="18" charset="-122"/>
                  <a:cs typeface="+mn-ea"/>
                  <a:sym typeface="+mn-lt"/>
                </a:rPr>
                <a:t>SEU Pattern Classification</a:t>
              </a: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302E9B7F-A6F2-30D7-BB0B-2D39CF844500}"/>
              </a:ext>
            </a:extLst>
          </p:cNvPr>
          <p:cNvGrpSpPr/>
          <p:nvPr/>
        </p:nvGrpSpPr>
        <p:grpSpPr>
          <a:xfrm>
            <a:off x="781050" y="4346575"/>
            <a:ext cx="8442960" cy="600710"/>
            <a:chOff x="1230" y="6845"/>
            <a:chExt cx="13296" cy="946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1113038F-6BC3-B6A2-9950-E4C8882B7E68}"/>
                </a:ext>
              </a:extLst>
            </p:cNvPr>
            <p:cNvSpPr txBox="1"/>
            <p:nvPr/>
          </p:nvSpPr>
          <p:spPr>
            <a:xfrm>
              <a:off x="1230" y="7161"/>
              <a:ext cx="13296" cy="6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altLang="zh-CN" sz="2000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Team members: 71123329 Jiawen Duan, 71123331 </a:t>
              </a:r>
              <a:r>
                <a:rPr lang="en-US" altLang="zh-CN" sz="2000" dirty="0" err="1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Xirui</a:t>
              </a:r>
              <a:r>
                <a:rPr lang="en-US" altLang="zh-CN" sz="2000" dirty="0">
                  <a:solidFill>
                    <a:schemeClr val="bg1"/>
                  </a:solidFill>
                  <a:latin typeface="微软雅黑" panose="020B0503020204020204" charset="-122"/>
                  <a:ea typeface="微软雅黑" panose="020B0503020204020204" charset="-122"/>
                  <a:cs typeface="Arial" panose="020B0604020202020204" pitchFamily="34" charset="0"/>
                  <a:sym typeface="+mn-ea"/>
                </a:rPr>
                <a:t> Yang</a:t>
              </a:r>
              <a:endParaRPr lang="zh-CN" altLang="en-US" sz="20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616D2C8-6FB1-3108-5620-9AB92AFEFE53}"/>
                </a:ext>
              </a:extLst>
            </p:cNvPr>
            <p:cNvSpPr/>
            <p:nvPr/>
          </p:nvSpPr>
          <p:spPr>
            <a:xfrm>
              <a:off x="1378" y="6845"/>
              <a:ext cx="6661" cy="1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3089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4.1.3"/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1372</Words>
  <Application>Microsoft Office PowerPoint</Application>
  <PresentationFormat>宽屏</PresentationFormat>
  <Paragraphs>168</Paragraphs>
  <Slides>10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等线</vt:lpstr>
      <vt:lpstr>等线 Light</vt:lpstr>
      <vt:lpstr>汉仪新人文宋 75W</vt:lpstr>
      <vt:lpstr>汉仪雅酷黑 65W</vt:lpstr>
      <vt:lpstr>微软雅黑</vt:lpstr>
      <vt:lpstr>Arial</vt:lpstr>
      <vt:lpstr>Consolas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嘉文 段</dc:creator>
  <cp:lastModifiedBy>嘉文 段</cp:lastModifiedBy>
  <cp:revision>5</cp:revision>
  <dcterms:created xsi:type="dcterms:W3CDTF">2025-11-20T10:12:56Z</dcterms:created>
  <dcterms:modified xsi:type="dcterms:W3CDTF">2025-11-20T12:09:26Z</dcterms:modified>
</cp:coreProperties>
</file>